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9" r:id="rId4"/>
    <p:sldId id="259" r:id="rId5"/>
    <p:sldId id="278" r:id="rId20"/>
    <p:sldId id="273" r:id="rId7"/>
    <p:sldId id="279" r:id="rId13"/>
    <p:sldId id="280" r:id="rId14"/>
    <p:sldId id="281" r:id="rId12"/>
    <p:sldId id="282" r:id="rId11"/>
    <p:sldId id="283" r:id="rId10"/>
    <p:sldId id="284" r:id="rId9"/>
    <p:sldId id="285" r:id="rId8"/>
    <p:sldId id="286" r:id="rId6"/>
    <p:sldId id="287" r:id="rId21"/>
    <p:sldId id="288" r:id="rId2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F7F8"/>
    <a:srgbClr val="F4A012"/>
    <a:srgbClr val="D08F27"/>
    <a:srgbClr val="03708B"/>
    <a:srgbClr val="D8D8D8"/>
    <a:srgbClr val="063A47"/>
    <a:srgbClr val="4FC7D8"/>
    <a:srgbClr val="F3F3F6"/>
    <a:srgbClr val="C6EFF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08" autoAdjust="0"/>
    <p:restoredTop sz="60441" autoAdjust="0"/>
  </p:normalViewPr>
  <p:slideViewPr>
    <p:cSldViewPr>
      <p:cViewPr varScale="1">
        <p:scale>
          <a:sx n="55" d="100"/>
          <a:sy n="55" d="100"/>
        </p:scale>
        <p:origin x="1976" y="20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14.xml"/><Relationship Id="rId7" Type="http://schemas.openxmlformats.org/officeDocument/2006/relationships/slide" Target="slides/slide6.xml"/><Relationship Id="rId8" Type="http://schemas.openxmlformats.org/officeDocument/2006/relationships/slide" Target="slides/slide13.xml"/><Relationship Id="rId9" Type="http://schemas.openxmlformats.org/officeDocument/2006/relationships/slide" Target="slides/slide12.xml"/><Relationship Id="rId10" Type="http://schemas.openxmlformats.org/officeDocument/2006/relationships/slide" Target="slides/slide11.xml"/><Relationship Id="rId11" Type="http://schemas.openxmlformats.org/officeDocument/2006/relationships/slide" Target="slides/slide10.xml"/><Relationship Id="rId12" Type="http://schemas.openxmlformats.org/officeDocument/2006/relationships/slide" Target="slides/slide9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5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3FA3D5-BD31-954D-B07C-0CE908957AF9}" type="datetimeFigureOut">
              <a:rPr lang="en-US" smtClean="0"/>
              <a:t>5/4/26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C5836E-7A3E-3E4F-97CD-9521615F10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614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Today I will be discussing 'Bayesian Volatility at Scale.’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My project bridges the gap between traditional financial econometrics and modern machine learning frameworks.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While the GARCH framework is the gold standard for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modeling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time-varying volatility, estimating these models under a Bayesian framework has historically been a computational nightmare.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Today, I’ll show how Variational Inference, allows us to scale these models using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handle the complexities of modern financial data.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78686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To understand the importance of our chosen approach, we first look at the industry standard.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Which is the Traditional Bayesian estimation that relies on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Markov Chain Monte Carlo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or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MCMC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sampling.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Looking at the diagram on the left, MCMC relies on random sampling to explore the posterior distribution.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While statistically accurate, this creates a massive computational bottleneck because it must 'walk' through the space step-by-step which makes it extremely difficult to scale in high-dimensional settings, making it too slow for the demands of real-time financial applications.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As such, we pivot from MCMC towards the precision of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Optimization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On the right, our chosen architecture—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Variational Inference (VI)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—recasts Bayesian estimation as a gradient descent problem.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We use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to efficiently drive toward the solution.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By treating estimation as an optimization task, this allows for high-dimensional scaling through modern machine learning frameworks like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Through which, we unlock the speed &amp; scalability needed for modern volatility modelling.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548170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brings us to the core of our methodology: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Variational Inference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We recast the entire Bayesian estimation problem into a scalable optimization task. Let’s look at three distinct parts: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- 1</a:t>
            </a:r>
            <a:r>
              <a:rPr lang="en-SG" sz="1200" b="1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The Intractable True Posterior: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traditional financial modelling, the marginal likelihood $p(y)$ is often intractable. Meaning we can’t calculate the 'true' posterior distribution analytically.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As you can see by the irregular black line, this distribution is complex and difficult to work with.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- 2</a:t>
            </a:r>
            <a:r>
              <a:rPr lang="en-SG" sz="1200" b="1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nd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Variational Family: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Instead of struggling with that complexity, we introduce a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Variational Family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We chose a family of tractable proxy distributions, $q(\theta)$, parameterized by $\zeta$—typically a Gaussian distribution.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This gives us a smooth, mathematically 'friendly' starting point. </a:t>
            </a:r>
          </a:p>
          <a:p>
            <a:endParaRPr lang="en-S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- 3</a:t>
            </a:r>
            <a:r>
              <a:rPr lang="en-SG" sz="1200" b="1" kern="1200" baseline="300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 Optimization Bridge: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Finally, we build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Optimization Bridge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minimizes the </a:t>
            </a:r>
            <a:r>
              <a:rPr lang="en-SG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Kullback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-Leibler (KL) Divergence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which acts as a force that pulls our proxy distribution $q(\theta)$ until it matches the true posterior as close as possible.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By following this process, we stop trying to sample every point in a hairball and instead use gradient descent to find the optimal fit.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3963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rt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heart of this optimization is the Evidence Lower Bound, or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ELBO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The ELBO is the equation seen here: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$$\text{ELBO}(q) = \</a:t>
            </a:r>
            <a:r>
              <a:rPr lang="en-SG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mathbb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{E}[\log p(\text{data} | \theta)] - KL(q(\theta) || p(\theta))$$</a:t>
            </a:r>
            <a:endParaRPr lang="en-S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SG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equation consist of 2 components that the ELBO has to balance out.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Expected Log-Likelihood: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This maximizes how well the model fits the empirical financial data.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KL Divergence: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Which acts as a natural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regularizer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penalizing the model if it deviates too far from our prior beliefs, $p(\theta)$.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By maximizing the ELBO, we are simultaneously finding the best fit and preventing overfitting.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8390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T- o train this, we implement a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Black-Box VI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training loop that allows for pure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optimization.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begin by sampling from our variational distribution, $q(\theta)$, which Normal distributed with mean $\mu$ and variance $\sigma^2$ and we use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reparameterization trick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here to ensure the entire loop remains differentiable.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then Calculate Expected Log-Likelihood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by passing those samples into our GARCH model. By using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Monte Carlo sampling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with just 5 samples, we can quickly approximate the likelihood of our financial data without sacrificing too much speed.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Simultaneously, we calculate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 Divergence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As seen on the graph, this acts as a penalty that prevents our proxy distribution from deviating too far from our prior, $p(\theta)$.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Then we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Backpropagate ELBO Loss,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which the log-likelihood &amp; KL Divergence component feed into our central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ELBO Objective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</a:p>
          <a:p>
            <a:pPr lvl="0"/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 then call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loss.backward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() with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Gradient Clipping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This is essential in volatility models to prevent gradients from 'exploding' during market stress periods. </a:t>
            </a:r>
          </a:p>
          <a:p>
            <a:pPr lvl="0"/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Finally, the </a:t>
            </a:r>
            <a:r>
              <a:rPr lang="en-SG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Adam Optimizer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takes a step to update our $\mu$ and $\sigma^2$. </a:t>
            </a:r>
          </a:p>
          <a:p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This loop lets us use </a:t>
            </a:r>
            <a:r>
              <a:rPr lang="en-SG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PyTorch’s</a:t>
            </a:r>
            <a:r>
              <a:rPr lang="en-SG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optimization suite for econometric modelling.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C5836E-7A3E-3E4F-97CD-9521615F10C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9231893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png"/><Relationship Id="rId8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Relationship Id="rId8" Type="http://schemas.openxmlformats.org/officeDocument/2006/relationships/image" Target="../media/image34.png"/><Relationship Id="rId9" Type="http://schemas.openxmlformats.org/officeDocument/2006/relationships/image" Target="../media/image35.png"/><Relationship Id="rId10" Type="http://schemas.openxmlformats.org/officeDocument/2006/relationships/image" Target="../media/image36.png"/><Relationship Id="rId11" Type="http://schemas.openxmlformats.org/officeDocument/2006/relationships/image" Target="../media/image3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C2ABD0BF-743F-0404-F534-6BB7736FF2C6}"/>
              </a:ext>
            </a:extLst>
          </p:cNvPr>
          <p:cNvSpPr/>
          <p:nvPr/>
        </p:nvSpPr>
        <p:spPr>
          <a:xfrm>
            <a:off x="2832100" y="549221"/>
            <a:ext cx="10591800" cy="137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200" dirty="0">
                <a:solidFill>
                  <a:sysClr val="windowText" lastClr="000000"/>
                </a:solidFill>
              </a:rPr>
              <a:t>Bayesian Volatility at Scale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04B47AF-FD01-46A5-F07E-039CCB3C8E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914" y="2286000"/>
            <a:ext cx="14250171" cy="54929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6929CD-2B2B-FA6D-D1B0-578686E331AE}"/>
              </a:ext>
            </a:extLst>
          </p:cNvPr>
          <p:cNvSpPr/>
          <p:nvPr/>
        </p:nvSpPr>
        <p:spPr>
          <a:xfrm>
            <a:off x="1346200" y="3025721"/>
            <a:ext cx="12801600" cy="2438400"/>
          </a:xfrm>
          <a:prstGeom prst="rect">
            <a:avLst/>
          </a:prstGeom>
          <a:solidFill>
            <a:srgbClr val="2731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latin typeface="Monaco" pitchFamily="2" charset="77"/>
              </a:rPr>
              <a:t>&gt; Loading </a:t>
            </a:r>
            <a:r>
              <a:rPr lang="en-US" sz="3600" dirty="0" err="1">
                <a:latin typeface="Monaco" pitchFamily="2" charset="77"/>
              </a:rPr>
              <a:t>project_proposal.pdf</a:t>
            </a:r>
            <a:r>
              <a:rPr lang="en-US" sz="3600" dirty="0">
                <a:latin typeface="Monaco" pitchFamily="2" charset="77"/>
              </a:rPr>
              <a:t>… </a:t>
            </a:r>
            <a:r>
              <a:rPr lang="en-US" sz="3600" dirty="0">
                <a:solidFill>
                  <a:srgbClr val="00B0F0"/>
                </a:solidFill>
                <a:latin typeface="Monaco" pitchFamily="2" charset="77"/>
              </a:rPr>
              <a:t>[OK]</a:t>
            </a:r>
          </a:p>
          <a:p>
            <a:r>
              <a:rPr lang="en-US" sz="3600" dirty="0">
                <a:latin typeface="Monaco" pitchFamily="2" charset="77"/>
              </a:rPr>
              <a:t>&gt; Parsing </a:t>
            </a:r>
            <a:r>
              <a:rPr lang="en-US" sz="3600" dirty="0" err="1">
                <a:latin typeface="Monaco" pitchFamily="2" charset="77"/>
              </a:rPr>
              <a:t>Magris</a:t>
            </a:r>
            <a:r>
              <a:rPr lang="en-US" sz="3600" dirty="0">
                <a:latin typeface="Monaco" pitchFamily="2" charset="77"/>
              </a:rPr>
              <a:t> &amp; Iosifidis (2023)… </a:t>
            </a:r>
            <a:r>
              <a:rPr lang="en-US" sz="3600" dirty="0">
                <a:solidFill>
                  <a:srgbClr val="00B0F0"/>
                </a:solidFill>
                <a:latin typeface="Monaco" pitchFamily="2" charset="77"/>
              </a:rPr>
              <a:t>[OK]</a:t>
            </a:r>
          </a:p>
          <a:p>
            <a:r>
              <a:rPr lang="en-US" sz="3600" dirty="0">
                <a:latin typeface="Monaco" pitchFamily="2" charset="77"/>
              </a:rPr>
              <a:t>&gt; Executing VI_GARCH.ipynb… </a:t>
            </a:r>
            <a:r>
              <a:rPr lang="en-US" sz="3600" dirty="0">
                <a:solidFill>
                  <a:srgbClr val="00B0F0"/>
                </a:solidFill>
                <a:latin typeface="Monaco" pitchFamily="2" charset="77"/>
              </a:rPr>
              <a:t>[DONE]</a:t>
            </a:r>
          </a:p>
          <a:p>
            <a:r>
              <a:rPr lang="en-US" sz="3600" dirty="0">
                <a:latin typeface="Monaco" pitchFamily="2" charset="77"/>
              </a:rPr>
              <a:t>&gt; QML · MCMC · BBVI · Full-cov VI… </a:t>
            </a:r>
            <a:r>
              <a:rPr lang="en-US" sz="3600" dirty="0">
                <a:solidFill>
                  <a:srgbClr val="00B0F0"/>
                </a:solidFill>
                <a:latin typeface="Monaco" pitchFamily="2" charset="77"/>
              </a:rPr>
              <a:t>[OK]</a:t>
            </a:r>
          </a:p>
          <a:p>
            <a:endParaRPr lang="en-US" sz="3600" dirty="0">
              <a:solidFill>
                <a:srgbClr val="00B0F0"/>
              </a:solidFill>
              <a:latin typeface="Monaco" pitchFamily="2" charset="77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577F57C6-15C7-DC1C-E70E-153A1918D4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207" y="8286132"/>
            <a:ext cx="16311207" cy="93898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885E164D-A1D3-19D5-3595-1ACEE0F9F464}"/>
              </a:ext>
            </a:extLst>
          </p:cNvPr>
          <p:cNvSpPr/>
          <p:nvPr/>
        </p:nvSpPr>
        <p:spPr>
          <a:xfrm>
            <a:off x="644070" y="8872406"/>
            <a:ext cx="14967857" cy="14333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dirty="0">
                <a:solidFill>
                  <a:schemeClr val="tx1"/>
                </a:solidFill>
                <a:latin typeface="Monaco" pitchFamily="2" charset="77"/>
              </a:rPr>
              <a:t>Runtime: </a:t>
            </a:r>
            <a:r>
              <a:rPr lang="en-US" sz="3200" dirty="0" err="1">
                <a:solidFill>
                  <a:schemeClr val="tx1"/>
                </a:solidFill>
                <a:latin typeface="Monaco" pitchFamily="2" charset="77"/>
              </a:rPr>
              <a:t>NumPy + PyTorch</a:t>
            </a:r>
            <a:r>
              <a:rPr lang="en-US" sz="3200" dirty="0">
                <a:solidFill>
                  <a:schemeClr val="tx1"/>
                </a:solidFill>
                <a:latin typeface="Monaco" pitchFamily="2" charset="77"/>
              </a:rPr>
              <a:t> | Data: MSFT | Method: VI</a:t>
            </a:r>
          </a:p>
          <a:p>
            <a:endParaRPr lang="en-US" sz="3600" dirty="0">
              <a:solidFill>
                <a:srgbClr val="00B0F0"/>
              </a:solidFill>
              <a:latin typeface="Monaco" pitchFamily="2" charset="77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6E2571-A28A-EE04-7375-59614273C902}"/>
              </a:ext>
            </a:extLst>
          </p:cNvPr>
          <p:cNvSpPr/>
          <p:nvPr/>
        </p:nvSpPr>
        <p:spPr>
          <a:xfrm>
            <a:off x="1230997" y="120237"/>
            <a:ext cx="13487400" cy="12717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 dirty="0">
                <a:solidFill>
                  <a:sysClr val="windowText" lastClr="000000"/>
                </a:solidFill>
              </a:rPr>
              <a:t>MCMC is the Bayesian gold standard, but it becomes a bottleneck at scale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4CE173-D0CD-5C9A-EB66-936D19A21B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08" y="1676400"/>
            <a:ext cx="7301089" cy="69342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CDBF7858-7424-A715-72BE-BA1A604F509C}"/>
              </a:ext>
            </a:extLst>
          </p:cNvPr>
          <p:cNvSpPr/>
          <p:nvPr/>
        </p:nvSpPr>
        <p:spPr>
          <a:xfrm>
            <a:off x="822000" y="6819900"/>
            <a:ext cx="7004304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Method</a:t>
            </a:r>
            <a:r>
              <a:rPr lang="en-US" sz="2600" dirty="0">
                <a:solidFill>
                  <a:sysClr val="windowText" lastClr="000000"/>
                </a:solidFill>
              </a:rPr>
              <a:t>: Random-walk posterior sampling</a:t>
            </a:r>
          </a:p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Cost</a:t>
            </a:r>
            <a:r>
              <a:rPr lang="en-US" sz="2600" dirty="0">
                <a:solidFill>
                  <a:sysClr val="windowText" lastClr="000000"/>
                </a:solidFill>
              </a:rPr>
              <a:t>: Sequential draws, tuning, diagnostics</a:t>
            </a:r>
          </a:p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Scalability</a:t>
            </a:r>
            <a:r>
              <a:rPr lang="en-US" sz="2600" dirty="0">
                <a:solidFill>
                  <a:sysClr val="windowText" lastClr="000000"/>
                </a:solidFill>
              </a:rPr>
              <a:t>: Mixes slowly in high dimensions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1FC8277-A8FF-CB9C-A87C-87B614E9A995}"/>
              </a:ext>
            </a:extLst>
          </p:cNvPr>
          <p:cNvSpPr/>
          <p:nvPr/>
        </p:nvSpPr>
        <p:spPr>
          <a:xfrm>
            <a:off x="822000" y="1858518"/>
            <a:ext cx="7004304" cy="9311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Traditional Bayesian Estimation</a:t>
            </a:r>
          </a:p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(Markov Chain Monte Carlo)</a:t>
            </a:r>
            <a:endParaRPr lang="en-US" sz="3200" dirty="0">
              <a:solidFill>
                <a:sysClr val="windowText" lastClr="000000"/>
              </a:solidFill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2F80F27-D845-76A7-81EF-894CCDA77C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0179" y="2814066"/>
            <a:ext cx="5987946" cy="40879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43DA38E-B96F-4ABA-5F88-FC2A00297F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18227" y="1676400"/>
            <a:ext cx="7301089" cy="69342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F70A9860-2744-E1FA-B604-20B809B7FBC9}"/>
              </a:ext>
            </a:extLst>
          </p:cNvPr>
          <p:cNvSpPr/>
          <p:nvPr/>
        </p:nvSpPr>
        <p:spPr>
          <a:xfrm>
            <a:off x="8466619" y="6819900"/>
            <a:ext cx="7004304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Method</a:t>
            </a:r>
            <a:r>
              <a:rPr lang="en-US" sz="2600" dirty="0">
                <a:solidFill>
                  <a:sysClr val="windowText" lastClr="000000"/>
                </a:solidFill>
              </a:rPr>
              <a:t>: Optimize the ELBO (momentum / Adam)</a:t>
            </a:r>
          </a:p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Cost</a:t>
            </a:r>
            <a:r>
              <a:rPr lang="en-US" sz="2600" dirty="0">
                <a:solidFill>
                  <a:sysClr val="windowText" lastClr="000000"/>
                </a:solidFill>
              </a:rPr>
              <a:t>: One convergence curve, generic tuning</a:t>
            </a:r>
          </a:p>
          <a:p>
            <a:pPr marL="325438" indent="-325438">
              <a:buFont typeface="Arial" panose="020B0604020202020204" pitchFamily="34" charset="0"/>
              <a:buChar char="•"/>
            </a:pPr>
            <a:r>
              <a:rPr lang="en-US" sz="2600" b="1" dirty="0">
                <a:solidFill>
                  <a:sysClr val="windowText" lastClr="000000"/>
                </a:solidFill>
              </a:rPr>
              <a:t>Scalability</a:t>
            </a:r>
            <a:r>
              <a:rPr lang="en-US" sz="2600" dirty="0">
                <a:solidFill>
                  <a:sysClr val="windowText" lastClr="000000"/>
                </a:solidFill>
              </a:rPr>
              <a:t>: Built for high-dimensional models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02F22F1-6F1E-AB30-2819-4A6C11AC9063}"/>
              </a:ext>
            </a:extLst>
          </p:cNvPr>
          <p:cNvSpPr/>
          <p:nvPr/>
        </p:nvSpPr>
        <p:spPr>
          <a:xfrm>
            <a:off x="8466619" y="1858518"/>
            <a:ext cx="7004304" cy="93116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The Chosen Architecture</a:t>
            </a:r>
          </a:p>
          <a:p>
            <a:pPr algn="ctr"/>
            <a:r>
              <a:rPr lang="en-US" sz="3200" b="1" dirty="0">
                <a:solidFill>
                  <a:sysClr val="windowText" lastClr="000000"/>
                </a:solidFill>
              </a:rPr>
              <a:t>(Variational Inference)</a:t>
            </a:r>
            <a:endParaRPr lang="en-US" sz="3200" dirty="0">
              <a:solidFill>
                <a:sysClr val="windowText" lastClr="000000"/>
              </a:solidFill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59CF051-50BF-AC02-1B63-2B2046E23B6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0688" y="2854452"/>
            <a:ext cx="7260500" cy="36578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24E21-5417-0D25-543F-D7BFE2FA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EF95576-046C-CFE2-2860-87D7D2378CF3}"/>
              </a:ext>
            </a:extLst>
          </p:cNvPr>
          <p:cNvSpPr/>
          <p:nvPr/>
        </p:nvSpPr>
        <p:spPr>
          <a:xfrm>
            <a:off x="850900" y="762000"/>
            <a:ext cx="14554200" cy="13716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b="1" dirty="0">
                <a:solidFill>
                  <a:sysClr val="windowText" lastClr="000000"/>
                </a:solidFill>
              </a:rPr>
              <a:t>Variational Inference recasts Bayesian estimation into a scalable optimization problem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7C30C4-9597-21EF-D294-815E504A5572}"/>
              </a:ext>
            </a:extLst>
          </p:cNvPr>
          <p:cNvSpPr/>
          <p:nvPr/>
        </p:nvSpPr>
        <p:spPr>
          <a:xfrm>
            <a:off x="865124" y="2971800"/>
            <a:ext cx="3924300" cy="51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4800" b="1" dirty="0">
              <a:solidFill>
                <a:sysClr val="windowText" lastClr="000000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FBE4CC8-1366-EF67-476B-32D08FC0378A}"/>
              </a:ext>
            </a:extLst>
          </p:cNvPr>
          <p:cNvSpPr/>
          <p:nvPr/>
        </p:nvSpPr>
        <p:spPr>
          <a:xfrm>
            <a:off x="6143593" y="2971800"/>
            <a:ext cx="3924300" cy="51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4800" b="1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227ED50-6731-72B7-8036-D185186E6590}"/>
              </a:ext>
            </a:extLst>
          </p:cNvPr>
          <p:cNvSpPr/>
          <p:nvPr/>
        </p:nvSpPr>
        <p:spPr>
          <a:xfrm>
            <a:off x="11422062" y="2971800"/>
            <a:ext cx="3924300" cy="510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4800" b="1" dirty="0">
              <a:solidFill>
                <a:sysClr val="windowText" lastClr="000000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6A5CB3F-269A-FC3A-3CBB-9A203D5B10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8394" y="2791968"/>
            <a:ext cx="14679211" cy="5513832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0C2E0D8-F9CD-D558-58A0-FF2AD68AAD6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9638" y="4090273"/>
            <a:ext cx="3879786" cy="25391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056A44B-B5C5-F116-7FF9-45F992CE119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3593" y="4447106"/>
            <a:ext cx="3924300" cy="218229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C003B2-2DB7-432B-A1DF-B4F4B9A40C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33238" y="4184904"/>
            <a:ext cx="3924300" cy="186669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64EFAFFF-B386-37D9-C25B-74A98B47AA29}"/>
              </a:ext>
            </a:extLst>
          </p:cNvPr>
          <p:cNvSpPr/>
          <p:nvPr/>
        </p:nvSpPr>
        <p:spPr>
          <a:xfrm>
            <a:off x="1041400" y="3041904"/>
            <a:ext cx="3693668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ysClr val="windowText" lastClr="000000"/>
                </a:solidFill>
              </a:rPr>
              <a:t>1. The Intractable True Posterior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651269-490D-C68B-C3DC-DEBE56C262F2}"/>
              </a:ext>
            </a:extLst>
          </p:cNvPr>
          <p:cNvSpPr/>
          <p:nvPr/>
        </p:nvSpPr>
        <p:spPr>
          <a:xfrm>
            <a:off x="6281166" y="3041904"/>
            <a:ext cx="3693668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ysClr val="windowText" lastClr="000000"/>
                </a:solidFill>
              </a:rPr>
              <a:t>2. The Variational Family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F441107-CB34-4BDF-1D80-A0AA79F788B1}"/>
              </a:ext>
            </a:extLst>
          </p:cNvPr>
          <p:cNvSpPr/>
          <p:nvPr/>
        </p:nvSpPr>
        <p:spPr>
          <a:xfrm>
            <a:off x="11328401" y="3041904"/>
            <a:ext cx="4076699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b="1" dirty="0">
                <a:solidFill>
                  <a:sysClr val="windowText" lastClr="000000"/>
                </a:solidFill>
              </a:rPr>
              <a:t>3. The Optimization Bridge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C786391-A0F7-C041-A62D-31BBDB02781B}"/>
              </a:ext>
            </a:extLst>
          </p:cNvPr>
          <p:cNvSpPr/>
          <p:nvPr/>
        </p:nvSpPr>
        <p:spPr>
          <a:xfrm>
            <a:off x="843788" y="6858000"/>
            <a:ext cx="4036568" cy="1143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Marginal likelihood </a:t>
            </a:r>
            <a:r>
              <a:rPr lang="en-US" sz="2800" b="1" dirty="0">
                <a:solidFill>
                  <a:sysClr val="windowText" lastClr="000000"/>
                </a:solidFill>
              </a:rPr>
              <a:t>p(y)</a:t>
            </a:r>
            <a:r>
              <a:rPr lang="en-US" sz="2800" dirty="0">
                <a:solidFill>
                  <a:sysClr val="windowText" lastClr="000000"/>
                </a:solidFill>
              </a:rPr>
              <a:t> is</a:t>
            </a:r>
          </a:p>
          <a:p>
            <a:pPr algn="ctr"/>
            <a:r>
              <a:rPr lang="en-US" sz="2800" dirty="0">
                <a:solidFill>
                  <a:sysClr val="windowText" lastClr="000000"/>
                </a:solidFill>
              </a:rPr>
              <a:t>often intractable.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C1DDCFD-5143-A7BE-F529-1E29B3086164}"/>
                  </a:ext>
                </a:extLst>
              </p:cNvPr>
              <p:cNvSpPr/>
              <p:nvPr/>
            </p:nvSpPr>
            <p:spPr>
              <a:xfrm>
                <a:off x="6109716" y="6858000"/>
                <a:ext cx="4036568" cy="114300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ysClr val="windowText" lastClr="000000"/>
                    </a:solidFill>
                  </a:rPr>
                  <a:t>A family of tractable proxy distributions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>
                    <a:solidFill>
                      <a:sysClr val="windowText" lastClr="000000"/>
                    </a:solidFill>
                  </a:rPr>
                  <a:t> </a:t>
                </a:r>
                <a:r>
                  <a:rPr lang="en-US" sz="2800" dirty="0">
                    <a:solidFill>
                      <a:sysClr val="windowText" lastClr="000000"/>
                    </a:solidFill>
                  </a:rPr>
                  <a:t>parameterized by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𝜻</m:t>
                    </m:r>
                  </m:oMath>
                </a14:m>
                <a:r>
                  <a:rPr lang="en-US" sz="2800" dirty="0">
                    <a:solidFill>
                      <a:sysClr val="windowText" lastClr="000000"/>
                    </a:solidFill>
                  </a:rPr>
                  <a:t>.</a:t>
                </a:r>
              </a:p>
            </p:txBody>
          </p:sp>
        </mc:Choice>
        <mc:Fallback xmlns=""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EC1DDCFD-5143-A7BE-F529-1E29B308616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09716" y="6858000"/>
                <a:ext cx="4036568" cy="1143000"/>
              </a:xfrm>
              <a:prstGeom prst="rect">
                <a:avLst/>
              </a:prstGeom>
              <a:blipFill>
                <a:blip r:embed="rId7"/>
                <a:stretch>
                  <a:fillRect l="-2194" t="-15385" r="-4389" b="-2307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DE0FBD-8577-9A48-1299-5F70270CCD13}"/>
                  </a:ext>
                </a:extLst>
              </p:cNvPr>
              <p:cNvSpPr/>
              <p:nvPr/>
            </p:nvSpPr>
            <p:spPr>
              <a:xfrm>
                <a:off x="11309794" y="6130187"/>
                <a:ext cx="4036568" cy="206349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ysClr val="windowText" lastClr="000000"/>
                    </a:solidFill>
                  </a:rPr>
                  <a:t>Minimize the Kullback-Leibler (KL) Divergence to force the proxy 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28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dirty="0">
                    <a:solidFill>
                      <a:sysClr val="windowText" lastClr="000000"/>
                    </a:solidFill>
                  </a:rPr>
                  <a:t> to match the true posterior.</a:t>
                </a: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FDE0FBD-8577-9A48-1299-5F70270CCD1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09794" y="6130187"/>
                <a:ext cx="4036568" cy="2063496"/>
              </a:xfrm>
              <a:prstGeom prst="rect">
                <a:avLst/>
              </a:prstGeom>
              <a:blipFill>
                <a:blip r:embed="rId8"/>
                <a:stretch>
                  <a:fillRect l="-940" r="-2821" b="-122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91059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A8FFA62E-F603-0DBF-2ACD-F0DA3378A41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28" y="1478722"/>
            <a:ext cx="15821665" cy="500660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C8B7288A-5D22-0B23-972B-320BDE1589C7}"/>
              </a:ext>
            </a:extLst>
          </p:cNvPr>
          <p:cNvSpPr/>
          <p:nvPr/>
        </p:nvSpPr>
        <p:spPr>
          <a:xfrm>
            <a:off x="381643" y="1556540"/>
            <a:ext cx="4839592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i="1" dirty="0">
                <a:solidFill>
                  <a:sysClr val="windowText" lastClr="000000"/>
                </a:solidFill>
              </a:rPr>
              <a:t>The Expected Log-Likelihood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D3C32EF-0219-B8AF-2B7B-8F4EA16594F7}"/>
              </a:ext>
            </a:extLst>
          </p:cNvPr>
          <p:cNvSpPr/>
          <p:nvPr/>
        </p:nvSpPr>
        <p:spPr>
          <a:xfrm>
            <a:off x="232915" y="6506780"/>
            <a:ext cx="5137047" cy="25606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ysClr val="windowText" lastClr="000000"/>
                </a:solidFill>
              </a:rPr>
              <a:t>Maximizes the model’s fit to the empirical financial data.</a:t>
            </a:r>
          </a:p>
          <a:p>
            <a:pPr algn="ctr"/>
            <a:endParaRPr lang="en-US" sz="3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3200" dirty="0">
                <a:solidFill>
                  <a:sysClr val="windowText" lastClr="000000"/>
                </a:solidFill>
              </a:rPr>
              <a:t>Monte Carlo: S = 50 (BBVI), S = 10 (full-cov).</a:t>
            </a:r>
          </a:p>
          <a:p>
            <a:pPr algn="ctr"/>
            <a:endParaRPr lang="en-US" sz="2800" dirty="0">
              <a:solidFill>
                <a:sysClr val="windowText" lastClr="000000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9D95330-1F4F-3E4C-4C61-A9274C25A7C5}"/>
              </a:ext>
            </a:extLst>
          </p:cNvPr>
          <p:cNvSpPr/>
          <p:nvPr/>
        </p:nvSpPr>
        <p:spPr>
          <a:xfrm>
            <a:off x="11467236" y="5803764"/>
            <a:ext cx="3594964" cy="4572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200" i="1" dirty="0">
                <a:solidFill>
                  <a:sysClr val="windowText" lastClr="000000"/>
                </a:solidFill>
              </a:rPr>
              <a:t>The KL Divergence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1233D5D-2246-1403-7CE0-246AE993C4EE}"/>
                  </a:ext>
                </a:extLst>
              </p:cNvPr>
              <p:cNvSpPr/>
              <p:nvPr/>
            </p:nvSpPr>
            <p:spPr>
              <a:xfrm>
                <a:off x="11285449" y="6709694"/>
                <a:ext cx="4970551" cy="168784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US" sz="3200" dirty="0">
                    <a:solidFill>
                      <a:sysClr val="windowText" lastClr="000000"/>
                    </a:solidFill>
                  </a:rPr>
                  <a:t>Penalizes the variational distribution </a:t>
                </a:r>
                <a14:m>
                  <m:oMath xmlns:m="http://schemas.openxmlformats.org/officeDocument/2006/math">
                    <m:r>
                      <a:rPr lang="en-US" sz="32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𝒒</m:t>
                    </m:r>
                    <m:r>
                      <a:rPr lang="en-US" sz="32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3200" b="1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dirty="0">
                    <a:solidFill>
                      <a:sysClr val="windowText" lastClr="000000"/>
                    </a:solidFill>
                  </a:rPr>
                  <a:t> for deviating too far from standard prior </a:t>
                </a:r>
                <a14:m>
                  <m:oMath xmlns:m="http://schemas.openxmlformats.org/officeDocument/2006/math">
                    <m:r>
                      <a:rPr lang="en-US" sz="3200" b="1" i="1" dirty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US" sz="3200" b="1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3200" b="1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𝜽</m:t>
                    </m:r>
                    <m:r>
                      <a:rPr lang="en-US" sz="3200" b="1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3200" b="1" dirty="0">
                    <a:solidFill>
                      <a:sysClr val="windowText" lastClr="000000"/>
                    </a:solidFill>
                  </a:rPr>
                  <a:t>.</a:t>
                </a:r>
                <a:r>
                  <a:rPr lang="en-US" sz="3200" dirty="0">
                    <a:solidFill>
                      <a:sysClr val="windowText" lastClr="000000"/>
                    </a:solidFill>
                  </a:rPr>
                  <a:t> Acts as a natural </a:t>
                </a:r>
                <a:r>
                  <a:rPr lang="en-US" sz="3200" dirty="0" err="1">
                    <a:solidFill>
                      <a:sysClr val="windowText" lastClr="000000"/>
                    </a:solidFill>
                  </a:rPr>
                  <a:t>regularizer</a:t>
                </a:r>
                <a:endParaRPr lang="en-US" sz="32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1233D5D-2246-1403-7CE0-246AE993C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285449" y="6709694"/>
                <a:ext cx="4970551" cy="1687847"/>
              </a:xfrm>
              <a:prstGeom prst="rect">
                <a:avLst/>
              </a:prstGeom>
              <a:blipFill>
                <a:blip r:embed="rId4"/>
                <a:stretch>
                  <a:fillRect l="-3053" t="-29104" r="-1781" b="-3582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Rectangle 11">
            <a:extLst>
              <a:ext uri="{FF2B5EF4-FFF2-40B4-BE49-F238E27FC236}">
                <a16:creationId xmlns:a16="http://schemas.microsoft.com/office/drawing/2014/main" id="{04C7FE39-5E61-45C0-1FD1-D6A908782672}"/>
              </a:ext>
            </a:extLst>
          </p:cNvPr>
          <p:cNvSpPr/>
          <p:nvPr/>
        </p:nvSpPr>
        <p:spPr>
          <a:xfrm>
            <a:off x="850900" y="-8845"/>
            <a:ext cx="14554200" cy="15873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5000" b="1" dirty="0">
                <a:solidFill>
                  <a:sysClr val="windowText" lastClr="000000"/>
                </a:solidFill>
              </a:rPr>
              <a:t>The Evidence Lower Bound (ELBO) objective balances data fit against prior beliefs</a:t>
            </a:r>
          </a:p>
        </p:txBody>
      </p:sp>
      <p:sp>
        <p:nvSpPr>
          <p:cNvPr id="16" name="AutoShape 2" descr=", AI generated">
            <a:extLst>
              <a:ext uri="{FF2B5EF4-FFF2-40B4-BE49-F238E27FC236}">
                <a16:creationId xmlns:a16="http://schemas.microsoft.com/office/drawing/2014/main" id="{BB2CC707-904E-B852-3F27-934B9460B5F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7975600" y="4419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89C33267-E788-4AE0-B0DE-28446C644E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8420" y="2554865"/>
            <a:ext cx="5568952" cy="308951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220CF20-D0F2-1085-792E-941478029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28" y="2147443"/>
            <a:ext cx="4497972" cy="4225634"/>
          </a:xfrm>
          <a:prstGeom prst="rect">
            <a:avLst/>
          </a:prstGeom>
        </p:spPr>
      </p:pic>
      <p:sp>
        <p:nvSpPr>
          <p:cNvPr id="22" name="Oval 21">
            <a:extLst>
              <a:ext uri="{FF2B5EF4-FFF2-40B4-BE49-F238E27FC236}">
                <a16:creationId xmlns:a16="http://schemas.microsoft.com/office/drawing/2014/main" id="{75362341-55CD-D2CD-FA94-8068C6E74BEA}"/>
              </a:ext>
            </a:extLst>
          </p:cNvPr>
          <p:cNvSpPr/>
          <p:nvPr/>
        </p:nvSpPr>
        <p:spPr>
          <a:xfrm>
            <a:off x="4886410" y="1600200"/>
            <a:ext cx="5940611" cy="5940611"/>
          </a:xfrm>
          <a:prstGeom prst="ellipse">
            <a:avLst/>
          </a:prstGeom>
          <a:ln w="762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03CE0A-B5DF-4B30-11CA-D514561B601D}"/>
                  </a:ext>
                </a:extLst>
              </p:cNvPr>
              <p:cNvSpPr txBox="1"/>
              <p:nvPr/>
            </p:nvSpPr>
            <p:spPr>
              <a:xfrm>
                <a:off x="4752071" y="3241662"/>
                <a:ext cx="6209287" cy="2199000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𝐸𝐿𝐵𝑂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𝑑𝑎𝑡𝑎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sz="48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– </m:t>
                      </m:r>
                      <m:r>
                        <m:rPr>
                          <m:sty m:val="p"/>
                        </m:rP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KL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|| 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4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48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B03CE0A-B5DF-4B30-11CA-D514561B60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2071" y="3241662"/>
                <a:ext cx="6209287" cy="2199000"/>
              </a:xfrm>
              <a:prstGeom prst="rect">
                <a:avLst/>
              </a:prstGeom>
              <a:blipFill>
                <a:blip r:embed="rId7"/>
                <a:stretch>
                  <a:fillRect t="-2299" r="-408" b="-120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Paper transforms map unconstrained VI parameters into a valid, stationary GARCH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783080"/>
            <a:ext cx="3566160" cy="557784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347472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</a:rPr>
              <a:t>Unconstrained Space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3474720" cy="9144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800" b="0">
                <a:solidFill>
                  <a:srgbClr val="000000"/>
                </a:solidFill>
              </a:rPr>
              <a:t>θ = (θω, θα, θβ) ∈ ℝ³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840480"/>
            <a:ext cx="3383280" cy="32918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200" b="0">
                <a:solidFill>
                  <a:srgbClr val="000000"/>
                </a:solidFill>
              </a:rPr>
              <a:t>The Gaussian posterior q(θ) = N(μ, Σ) lives here.</a:t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>Prior p(θ) = N(0, I), as in the paper.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0" y="1783080"/>
            <a:ext cx="6583680" cy="557784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828800"/>
            <a:ext cx="649224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</a:rPr>
              <a:t>The Transform (Prop. 2 in the paper)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60" y="2880360"/>
            <a:ext cx="8229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</a:rPr>
              <a:t>θω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977639" y="3200400"/>
            <a:ext cx="1554481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577840" y="2880360"/>
            <a:ext cx="4572000" cy="640080"/>
          </a:xfrm>
          <a:prstGeom prst="rect">
            <a:avLst/>
          </a:prstGeom>
          <a:solidFill>
            <a:srgbClr val="E4F3F7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77840" y="2880360"/>
            <a:ext cx="457200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</a:rPr>
              <a:t>ω = exp(θω)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3520439"/>
            <a:ext cx="457200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600" b="0">
                <a:solidFill>
                  <a:srgbClr val="2A6F8A"/>
                </a:solidFill>
              </a:rPr>
              <a:t>torch.exp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149840" y="3200400"/>
            <a:ext cx="1600200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709160" y="4206240"/>
            <a:ext cx="8229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</a:rPr>
              <a:t>θα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977639" y="4526279"/>
            <a:ext cx="1554481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577840" y="4206240"/>
            <a:ext cx="4572000" cy="640080"/>
          </a:xfrm>
          <a:prstGeom prst="rect">
            <a:avLst/>
          </a:prstGeom>
          <a:solidFill>
            <a:srgbClr val="E4F3F7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77840" y="4206240"/>
            <a:ext cx="457200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</a:rPr>
              <a:t>α = sigmoid(θα)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77840" y="4846320"/>
            <a:ext cx="457200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600" b="0">
                <a:solidFill>
                  <a:srgbClr val="2A6F8A"/>
                </a:solidFill>
              </a:rPr>
              <a:t>torch.sigmoid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149840" y="4526279"/>
            <a:ext cx="1600200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709160" y="5532120"/>
            <a:ext cx="82296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0">
                <a:solidFill>
                  <a:srgbClr val="000000"/>
                </a:solidFill>
              </a:rPr>
              <a:t>θβ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77639" y="5852159"/>
            <a:ext cx="1554481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5577840" y="5532120"/>
            <a:ext cx="4572000" cy="640080"/>
          </a:xfrm>
          <a:prstGeom prst="rect">
            <a:avLst/>
          </a:prstGeom>
          <a:solidFill>
            <a:srgbClr val="E4F3F7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577840" y="5532120"/>
            <a:ext cx="4572000" cy="6400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400" b="0">
                <a:solidFill>
                  <a:srgbClr val="000000"/>
                </a:solidFill>
              </a:rPr>
              <a:t>β = sigmoid(θβ) · (1 − α)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6172200"/>
            <a:ext cx="4572000" cy="4114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600" b="0">
                <a:solidFill>
                  <a:srgbClr val="2A6F8A"/>
                </a:solidFill>
              </a:rPr>
              <a:t>torch.sigmoid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149840" y="5852159"/>
            <a:ext cx="1600200" cy="0"/>
          </a:xfrm>
          <a:prstGeom prst="line">
            <a:avLst/>
          </a:prstGeom>
          <a:ln w="31750">
            <a:solidFill>
              <a:srgbClr val="2A6F8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750040" y="1783080"/>
            <a:ext cx="4114800" cy="557784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795760" y="1828800"/>
            <a:ext cx="4023360" cy="82296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800" b="1">
                <a:solidFill>
                  <a:srgbClr val="000000"/>
                </a:solidFill>
              </a:rPr>
              <a:t>Constrained GARCH Space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887200" y="2743200"/>
            <a:ext cx="3931920" cy="25603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</a:rPr>
              <a:t>•  ω &gt; 0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    (baseline variance)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•  α ≥ 0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    (reaction to shocks)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•  β ≥ 0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    (volatility persistence)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932920" y="5623560"/>
            <a:ext cx="3749039" cy="1554480"/>
          </a:xfrm>
          <a:prstGeom prst="rect">
            <a:avLst/>
          </a:prstGeom>
          <a:solidFill>
            <a:srgbClr val="E4F3F7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932920" y="5623560"/>
            <a:ext cx="3749039" cy="15544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900" b="1">
                <a:solidFill>
                  <a:srgbClr val="000000"/>
                </a:solidFill>
              </a:rPr>
              <a:t>α + β &lt; 1 for every θ</a:t>
            </a:r>
          </a:p>
          <a:p>
            <a:pPr algn="ctr"/>
            <a:r>
              <a:rPr sz="1900" b="0">
                <a:solidFill>
                  <a:srgbClr val="000000"/>
                </a:solidFill>
              </a:rPr>
              <a:t>stationary by construction:</a:t>
            </a:r>
          </a:p>
          <a:p>
            <a:pPr algn="ctr"/>
            <a:r>
              <a:rPr sz="1900" b="0">
                <a:solidFill>
                  <a:srgbClr val="000000"/>
                </a:solidFill>
              </a:rPr>
              <a:t>no if-statement, no rescaling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7680960"/>
            <a:ext cx="15453359" cy="10972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7680960"/>
            <a:ext cx="15270480" cy="10972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</a:rPr>
              <a:t>Fix vs. first draft: </a:t>
            </a:r>
            <a:r>
              <a:rPr sz="2000" b="0">
                <a:solidFill>
                  <a:srgbClr val="000000"/>
                </a:solidFill>
              </a:rPr>
              <a:t>the old “if α + β ≥ 0.99, rescale” rule was non-smooth and not the paper’s method. The transform is smooth everywhere, so gradients are always well defined.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3AA3A-B628-E3A4-9A48-DBCB64C10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AC7E828-B4A0-002B-322A-96F787E3BF2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200" y="1143000"/>
            <a:ext cx="12420600" cy="7718232"/>
          </a:xfrm>
          <a:prstGeom prst="rect">
            <a:avLst/>
          </a:prstGeom>
        </p:spPr>
      </p:pic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DDCA28FA-C07B-7C7D-7028-06E72915252D}"/>
              </a:ext>
            </a:extLst>
          </p:cNvPr>
          <p:cNvCxnSpPr>
            <a:cxnSpLocks/>
          </p:cNvCxnSpPr>
          <p:nvPr/>
        </p:nvCxnSpPr>
        <p:spPr>
          <a:xfrm>
            <a:off x="12852400" y="1066800"/>
            <a:ext cx="0" cy="7794432"/>
          </a:xfrm>
          <a:prstGeom prst="line">
            <a:avLst/>
          </a:prstGeom>
          <a:ln w="28575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852DBD05-2218-E418-16AE-D708881F9AE1}"/>
              </a:ext>
            </a:extLst>
          </p:cNvPr>
          <p:cNvSpPr/>
          <p:nvPr/>
        </p:nvSpPr>
        <p:spPr>
          <a:xfrm>
            <a:off x="355603" y="-31101"/>
            <a:ext cx="15544793" cy="86930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400" b="1" dirty="0">
                <a:solidFill>
                  <a:sysClr val="windowText" lastClr="000000"/>
                </a:solidFill>
              </a:rPr>
              <a:t>The VI training loop: sample, score, update in </a:t>
            </a:r>
            <a:r>
              <a:rPr lang="en-US" sz="4400" b="1" dirty="0" err="1">
                <a:solidFill>
                  <a:sysClr val="windowText" lastClr="000000"/>
                </a:solidFill>
              </a:rPr>
              <a:t>PyTorch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64C712F-AA39-E684-B778-06AF71E1A723}"/>
              </a:ext>
            </a:extLst>
          </p:cNvPr>
          <p:cNvSpPr/>
          <p:nvPr/>
        </p:nvSpPr>
        <p:spPr>
          <a:xfrm>
            <a:off x="3403599" y="7393937"/>
            <a:ext cx="3884614" cy="1295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ysClr val="windowText" lastClr="000000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195737-99AF-D1C3-5CD9-5133165E31DF}"/>
              </a:ext>
            </a:extLst>
          </p:cNvPr>
          <p:cNvSpPr/>
          <p:nvPr/>
        </p:nvSpPr>
        <p:spPr>
          <a:xfrm>
            <a:off x="8257818" y="3919933"/>
            <a:ext cx="4254553" cy="7569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2600" dirty="0">
                <a:solidFill>
                  <a:schemeClr val="tx1"/>
                </a:solidFill>
              </a:rPr>
              <a:t>Compute GARCH Likelihood over MC samples.</a:t>
            </a:r>
            <a:endParaRPr lang="en-US" sz="2600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CC00EA5-8EFB-B40E-9022-1EB5859063D3}"/>
              </a:ext>
            </a:extLst>
          </p:cNvPr>
          <p:cNvSpPr/>
          <p:nvPr/>
        </p:nvSpPr>
        <p:spPr>
          <a:xfrm>
            <a:off x="8439192" y="5633757"/>
            <a:ext cx="3617167" cy="275328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800" dirty="0">
              <a:solidFill>
                <a:sysClr val="windowText" lastClr="00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C811325-BC58-2F54-2C1F-2F6790F46B2F}"/>
                  </a:ext>
                </a:extLst>
              </p:cNvPr>
              <p:cNvSpPr/>
              <p:nvPr/>
            </p:nvSpPr>
            <p:spPr>
              <a:xfrm>
                <a:off x="531393" y="3276537"/>
                <a:ext cx="3617167" cy="54315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𝕢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= </m:t>
                      </m:r>
                      <m:r>
                        <m:rPr>
                          <m:sty m:val="p"/>
                        </m:rP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N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US" sz="28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3C811325-BC58-2F54-2C1F-2F6790F46B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393" y="3276537"/>
                <a:ext cx="3617167" cy="543159"/>
              </a:xfrm>
              <a:prstGeom prst="rect">
                <a:avLst/>
              </a:prstGeom>
              <a:blipFill>
                <a:blip r:embed="rId4"/>
                <a:stretch>
                  <a:fillRect b="-2045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16E19BDC-0E9F-9FC5-2789-1EF3D7CF5FB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086" y="1699029"/>
            <a:ext cx="3865982" cy="1678091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D842C157-CB62-2911-1A56-84E284B40B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86630" y="2052930"/>
            <a:ext cx="4114799" cy="1912512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C50DB584-4E47-4C5B-6509-783FDE3C068F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8904" y="6163537"/>
            <a:ext cx="3926295" cy="1953477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812FA6D9-FA0B-C3B6-8DE4-7AE7333DC6E9}"/>
              </a:ext>
            </a:extLst>
          </p:cNvPr>
          <p:cNvSpPr/>
          <p:nvPr/>
        </p:nvSpPr>
        <p:spPr>
          <a:xfrm>
            <a:off x="579014" y="1343887"/>
            <a:ext cx="3617167" cy="40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1. Sample Parameters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3292AEE-7DB3-4ED2-3699-6D9AE692AC13}"/>
              </a:ext>
            </a:extLst>
          </p:cNvPr>
          <p:cNvSpPr/>
          <p:nvPr/>
        </p:nvSpPr>
        <p:spPr>
          <a:xfrm>
            <a:off x="579014" y="4286814"/>
            <a:ext cx="3617167" cy="5752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5. Update Parameters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41FC5C9-73B2-BCB1-2375-E964E4EF6E64}"/>
              </a:ext>
            </a:extLst>
          </p:cNvPr>
          <p:cNvSpPr/>
          <p:nvPr/>
        </p:nvSpPr>
        <p:spPr>
          <a:xfrm>
            <a:off x="8488377" y="5611027"/>
            <a:ext cx="4114800" cy="5752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3. Compute KL Divergence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3753B16-CA1A-709F-EE59-D1FD1E55F32A}"/>
              </a:ext>
            </a:extLst>
          </p:cNvPr>
          <p:cNvSpPr/>
          <p:nvPr/>
        </p:nvSpPr>
        <p:spPr>
          <a:xfrm>
            <a:off x="8515229" y="1232805"/>
            <a:ext cx="3657600" cy="8791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2. Calculate Expected Log-Likelihood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FEBABC6-219F-D75B-C45E-9ECC956A1A7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886" y="4784658"/>
            <a:ext cx="3916114" cy="133451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398730C-090C-9AC2-7AAB-F3DABB066461}"/>
                  </a:ext>
                </a:extLst>
              </p:cNvPr>
              <p:cNvSpPr/>
              <p:nvPr/>
            </p:nvSpPr>
            <p:spPr>
              <a:xfrm>
                <a:off x="1227782" y="6046905"/>
                <a:ext cx="2168589" cy="54315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800" dirty="0">
                    <a:solidFill>
                      <a:schemeClr val="tx1"/>
                    </a:solidFill>
                    <a:ea typeface="Cambria Math" panose="02040503050406030204" pitchFamily="18" charset="0"/>
                  </a:rPr>
                  <a:t>Update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en-US" sz="28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 lang="en-US" sz="28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9398730C-090C-9AC2-7AAB-F3DABB0664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782" y="6046905"/>
                <a:ext cx="2168589" cy="543159"/>
              </a:xfrm>
              <a:prstGeom prst="rect">
                <a:avLst/>
              </a:prstGeom>
              <a:blipFill>
                <a:blip r:embed="rId9"/>
                <a:stretch>
                  <a:fillRect l="-2907" t="-11628" b="-279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31521BA-8AA4-904D-1BF2-189C7687C8F5}"/>
                  </a:ext>
                </a:extLst>
              </p:cNvPr>
              <p:cNvSpPr/>
              <p:nvPr/>
            </p:nvSpPr>
            <p:spPr>
              <a:xfrm>
                <a:off x="8722912" y="8117014"/>
                <a:ext cx="3617167" cy="54315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KL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𝕢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|| </m:t>
                      </m:r>
                      <m:r>
                        <a:rPr lang="en-US" sz="28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𝜌</m:t>
                      </m:r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8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)) </m:t>
                      </m:r>
                    </m:oMath>
                  </m:oMathPara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31521BA-8AA4-904D-1BF2-189C7687C8F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2912" y="8117014"/>
                <a:ext cx="3617167" cy="543159"/>
              </a:xfrm>
              <a:prstGeom prst="rect">
                <a:avLst/>
              </a:prstGeom>
              <a:blipFill>
                <a:blip r:embed="rId10"/>
                <a:stretch>
                  <a:fillRect b="-1818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Rectangle 30">
            <a:extLst>
              <a:ext uri="{FF2B5EF4-FFF2-40B4-BE49-F238E27FC236}">
                <a16:creationId xmlns:a16="http://schemas.microsoft.com/office/drawing/2014/main" id="{068E2A84-6A36-B6B8-BB68-2DD223A52287}"/>
              </a:ext>
            </a:extLst>
          </p:cNvPr>
          <p:cNvSpPr/>
          <p:nvPr/>
        </p:nvSpPr>
        <p:spPr>
          <a:xfrm>
            <a:off x="3073643" y="7496671"/>
            <a:ext cx="4648199" cy="75695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2400" dirty="0" err="1">
                <a:solidFill>
                  <a:schemeClr val="tx1"/>
                </a:solidFill>
              </a:rPr>
              <a:t>loss.backward</a:t>
            </a:r>
            <a:r>
              <a:rPr lang="en-SG" sz="2400" dirty="0">
                <a:solidFill>
                  <a:schemeClr val="tx1"/>
                </a:solidFill>
              </a:rPr>
              <a:t>() → Adam step</a:t>
            </a:r>
            <a:endParaRPr lang="en-US" sz="2400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358A1EA-15B3-1F1F-0C88-3866F050DBD4}"/>
              </a:ext>
            </a:extLst>
          </p:cNvPr>
          <p:cNvSpPr/>
          <p:nvPr/>
        </p:nvSpPr>
        <p:spPr>
          <a:xfrm>
            <a:off x="3263155" y="7120959"/>
            <a:ext cx="4347235" cy="57524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4. Backpropagate ELBO Loss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153A830-9ED7-E06D-E58F-63151F3C9E86}"/>
              </a:ext>
            </a:extLst>
          </p:cNvPr>
          <p:cNvSpPr/>
          <p:nvPr/>
        </p:nvSpPr>
        <p:spPr>
          <a:xfrm>
            <a:off x="5148255" y="8170185"/>
            <a:ext cx="2555102" cy="21685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SG" sz="2000" b="1" dirty="0">
                <a:solidFill>
                  <a:srgbClr val="4FC7D8"/>
                </a:solidFill>
              </a:rPr>
              <a:t>Autodiff gradients</a:t>
            </a:r>
            <a:endParaRPr lang="en-US" sz="2000" b="1" dirty="0">
              <a:solidFill>
                <a:srgbClr val="4FC7D8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26C1B06-30FC-987E-AFA2-52CAEB5EC613}"/>
                  </a:ext>
                </a:extLst>
              </p:cNvPr>
              <p:cNvSpPr txBox="1"/>
              <p:nvPr/>
            </p:nvSpPr>
            <p:spPr>
              <a:xfrm>
                <a:off x="4655240" y="5144139"/>
                <a:ext cx="3425277" cy="615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𝐸𝐿𝐵𝑂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 = 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𝑙𝑜𝑔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𝑑𝑎𝑡𝑎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|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)]</m:t>
                      </m:r>
                    </m:oMath>
                  </m:oMathPara>
                </a14:m>
                <a:endParaRPr lang="en-US" sz="20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– </m:t>
                      </m:r>
                      <m:r>
                        <m:rPr>
                          <m:sty m:val="p"/>
                        </m:rP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KL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𝑞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 ||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𝑝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26C1B06-30FC-987E-AFA2-52CAEB5EC6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5240" y="5144139"/>
                <a:ext cx="3425277" cy="615553"/>
              </a:xfrm>
              <a:prstGeom prst="rect">
                <a:avLst/>
              </a:prstGeom>
              <a:blipFill>
                <a:blip r:embed="rId11"/>
                <a:stretch>
                  <a:fillRect t="-4082" b="-183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Rectangle 33">
            <a:extLst>
              <a:ext uri="{FF2B5EF4-FFF2-40B4-BE49-F238E27FC236}">
                <a16:creationId xmlns:a16="http://schemas.microsoft.com/office/drawing/2014/main" id="{D5251BCE-A62E-D5E1-E78E-06358BB3A8BD}"/>
              </a:ext>
            </a:extLst>
          </p:cNvPr>
          <p:cNvSpPr/>
          <p:nvPr/>
        </p:nvSpPr>
        <p:spPr>
          <a:xfrm>
            <a:off x="5333617" y="4015240"/>
            <a:ext cx="2089958" cy="840886"/>
          </a:xfrm>
          <a:prstGeom prst="rect">
            <a:avLst/>
          </a:prstGeom>
          <a:solidFill>
            <a:srgbClr val="F3F3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ysClr val="windowText" lastClr="000000"/>
                </a:solidFill>
              </a:rPr>
              <a:t>The ELBO Objective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274552" y="3310128"/>
            <a:ext cx="1234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228832" y="3291840"/>
            <a:ext cx="1325880" cy="603504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1200" b="0">
                <a:solidFill>
                  <a:srgbClr val="000000"/>
                </a:solidFill>
              </a:rPr>
              <a:t>S = 10</a:t>
            </a:r>
          </a:p>
          <a:p>
            <a:pPr algn="ctr"/>
            <a:r>
              <a:rPr sz="1200" b="0">
                <a:solidFill>
                  <a:srgbClr val="000000"/>
                </a:solidFill>
              </a:rPr>
              <a:t>samples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2938760" y="1188720"/>
            <a:ext cx="3291840" cy="77724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300" b="1">
                <a:solidFill>
                  <a:srgbClr val="000000"/>
                </a:solidFill>
              </a:rPr>
              <a:t>Two gradient estimators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1">
                <a:solidFill>
                  <a:srgbClr val="D08F27"/>
                </a:solidFill>
              </a:rPr>
              <a:t>BBVI</a:t>
            </a:r>
            <a:r>
              <a:rPr sz="2300" b="0">
                <a:solidFill>
                  <a:srgbClr val="000000"/>
                </a:solidFill>
              </a:rPr>
              <a:t> (paper, Alg. 1): score-function gradient from likelihood values only. Diagonal q, S = 50, lr 0.005, momentum 0.4.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1">
                <a:solidFill>
                  <a:srgbClr val="2A6F8A"/>
                </a:solidFill>
              </a:rPr>
              <a:t>Full-cov VI</a:t>
            </a:r>
            <a:r>
              <a:rPr sz="2300" b="0">
                <a:solidFill>
                  <a:srgbClr val="000000"/>
                </a:solidFill>
              </a:rPr>
              <a:t>: reparameterisation θ = μ + Lε, gradients by autodiff. Full Σ, S = 10, Adam lr 0.01.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>Same posterior target, prior and transforms.</a:t>
            </a:r>
          </a:p>
        </p:txBody>
      </p:sp>
    </p:spTree>
    <p:extLst>
      <p:ext uri="{BB962C8B-B14F-4D97-AF65-F5344CB8AC3E}">
        <p14:creationId xmlns:p14="http://schemas.microsoft.com/office/powerpoint/2010/main" val="496828018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Data pipeline: the paper’s Microsoft case study, cleaned and split in time 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713232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</a:rPr>
              <a:t>Data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240280"/>
          <a:ext cx="7315200" cy="5669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5577840"/>
              </a:tblGrid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Source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Yahoo Finance (yfinance), adjusted close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Asset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Microsoft (MSFT), as in the paper; plus a Dow 30 panel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Window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2 Jan 2018 – 30 Jun 2023: 1,383 days → 1,382 returns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Cleaning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0 missing, 0 duplicates, 0 non-positive prices; longest gap 4 days (holidays)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809897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Returns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rₜ = 100 · (log Pₜ − log Pₜ₋₁)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809898">
                <a:tc>
                  <a:txBody>
                    <a:bodyPr/>
                    <a:lstStyle/>
                    <a:p>
                      <a:pPr algn="l"/>
                      <a:r>
                        <a:rPr sz="1900" b="1">
                          <a:solidFill>
                            <a:srgbClr val="000000"/>
                          </a:solidFill>
                        </a:rPr>
                        <a:t>Split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900" b="0">
                          <a:solidFill>
                            <a:srgbClr val="000000"/>
                          </a:solidFill>
                        </a:rPr>
                        <a:t>75% train (to 11 Feb 2022, 1,036 days) / 25% test (346 days)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cxnSp>
        <p:nvCxnSpPr>
          <p:cNvPr id="5" name="Connector 4"/>
          <p:cNvCxnSpPr/>
          <p:nvPr/>
        </p:nvCxnSpPr>
        <p:spPr>
          <a:xfrm>
            <a:off x="8183879" y="1600200"/>
            <a:ext cx="0" cy="717804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503920" y="1554480"/>
            <a:ext cx="731520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3000" b="1">
                <a:solidFill>
                  <a:srgbClr val="000000"/>
                </a:solidFill>
              </a:rPr>
              <a:t>Prices and Returns</a:t>
            </a:r>
          </a:p>
        </p:txBody>
      </p:sp>
      <p:pic>
        <p:nvPicPr>
          <p:cNvPr id="7" name="Picture 6" descr="01_price_re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360612"/>
            <a:ext cx="7498079" cy="4057015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8503920" y="6858000"/>
            <a:ext cx="7315200" cy="173736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6858000"/>
            <a:ext cx="7132320" cy="17373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2A6F8A"/>
                </a:solidFill>
              </a:rPr>
              <a:t>Takeaway: </a:t>
            </a:r>
            <a:r>
              <a:rPr sz="2000" b="0">
                <a:solidFill>
                  <a:srgbClr val="2A6F8A"/>
                </a:solidFill>
              </a:rPr>
              <a:t>the test period (2022 rate hikes) is more volatile than most of the training period, so it is a genuine out-of-sample challenge.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Exploratory analysis: MSFT returns show the stylised facts GARCH is built for</a:t>
            </a:r>
          </a:p>
        </p:txBody>
      </p:sp>
      <p:pic>
        <p:nvPicPr>
          <p:cNvPr id="3" name="Picture 2" descr="02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8794"/>
            <a:ext cx="9692640" cy="3457530"/>
          </a:xfrm>
          <a:prstGeom prst="rect">
            <a:avLst/>
          </a:prstGeom>
        </p:spPr>
      </p:pic>
      <p:pic>
        <p:nvPicPr>
          <p:cNvPr id="4" name="Picture 3" descr="03_ac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5257086"/>
            <a:ext cx="9692640" cy="30189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0378440" y="1645920"/>
            <a:ext cx="5486400" cy="667512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0" y="1737360"/>
            <a:ext cx="5212080" cy="649224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000" b="1">
                <a:solidFill>
                  <a:srgbClr val="D08F27"/>
                </a:solidFill>
              </a:rPr>
              <a:t>Fat tails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Excess kurtosis 9.5 (train); Jarque-Bera p &lt; 0.001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000" b="1">
                <a:solidFill>
                  <a:srgbClr val="D08F27"/>
                </a:solidFill>
              </a:rPr>
              <a:t>Volatility clustering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Ljung-Box(10) on r²: 890 (p &lt; 0.001)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000" b="1">
                <a:solidFill>
                  <a:srgbClr val="D08F27"/>
                </a:solidFill>
              </a:rPr>
              <a:t>ARCH effects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Engle ARCH-LM(10): 393 (p &lt; 0.001)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000" b="1">
                <a:solidFill>
                  <a:srgbClr val="D08F27"/>
                </a:solidFill>
              </a:rPr>
              <a:t>Mean ≈ 0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0.12%/day vs 1.9% daily volatility: under 0.5% of E[r²], so we use the paper's μ =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8412480"/>
            <a:ext cx="15453359" cy="59436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8412480"/>
            <a:ext cx="15270480" cy="59436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</a:rPr>
              <a:t>→ GARCH(1,1) for clustering; Student-t innovations for fat tails (extension)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Our GARCH(1,1) estimates replicate the paper’s Table II for Microsoft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645920"/>
          <a:ext cx="1517904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057400"/>
                <a:gridCol w="2057400"/>
                <a:gridCol w="2057400"/>
                <a:gridCol w="2057400"/>
                <a:gridCol w="2057400"/>
                <a:gridCol w="205740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ω (ours)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α (ours)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β (ours)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ω (paper)</a:t>
                      </a:r>
                    </a:p>
                  </a:txBody>
                  <a:tcPr anchor="ctr" marL="73152" marR="73152">
                    <a:solidFill>
                      <a:srgbClr val="D08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α (paper)</a:t>
                      </a:r>
                    </a:p>
                  </a:txBody>
                  <a:tcPr anchor="ctr" marL="73152" marR="73152">
                    <a:solidFill>
                      <a:srgbClr val="D08F2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β (paper)</a:t>
                      </a:r>
                    </a:p>
                  </a:txBody>
                  <a:tcPr anchor="ctr" marL="73152" marR="73152">
                    <a:solidFill>
                      <a:srgbClr val="D08F27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QML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0.186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0.769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0.15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0.19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0.77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MCMC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0.217 ± 0.049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0.203 ± 0.031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0.731 ± 0.036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0.200 ± 0.046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0.203 ± 0.031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0.737 ± 0.036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BBVI (diagonal)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0.214 ± 0.022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0.201 ± 0.023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0.732 ± 0.023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0.196 ± 0.021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0.199 ± 0.023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0.740 ± 0.023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Full-cov VI*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0.220 ± 0.050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0.200 ± 0.029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0.732 ± 0.035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0.205 ± 0.047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0.201 ± 0.030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0.736 ± 0.035</a:t>
                      </a:r>
                    </a:p>
                  </a:txBody>
                  <a:tcPr anchor="ctr" marL="73152" marR="73152">
                    <a:solidFill>
                      <a:srgbClr val="FBF4E8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983480"/>
            <a:ext cx="15179040" cy="457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500" b="0">
                <a:solidFill>
                  <a:srgbClr val="000000"/>
                </a:solidFill>
              </a:rPr>
              <a:t>Bayesian columns: posterior mean ± SD of transformed draws (paper eq. 6). *Paper column = MGVB, its full-covariance VI optimiser.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5715000"/>
            <a:ext cx="4846320" cy="2926080"/>
          </a:xfrm>
          <a:prstGeom prst="rect">
            <a:avLst/>
          </a:prstGeom>
          <a:solidFill>
            <a:srgbClr val="FFFFFF"/>
          </a:solidFill>
          <a:ln w="28575">
            <a:solidFill>
              <a:srgbClr val="06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806440"/>
            <a:ext cx="4663440" cy="2743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</a:rPr>
              <a:t>Replicated</a:t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>Every estimate is within ≈ 0.02 of the paper; QML also matches the arch package.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87568" y="5715000"/>
            <a:ext cx="4846320" cy="2926080"/>
          </a:xfrm>
          <a:prstGeom prst="rect">
            <a:avLst/>
          </a:prstGeom>
          <a:solidFill>
            <a:srgbClr val="FFFFFF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79007" y="5806440"/>
            <a:ext cx="4663440" cy="2743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</a:rPr>
              <a:t>Persistence</a:t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>α + β ≈ 0.955: a volatility shock has a half-life of ≈ 15 trading days.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826496" y="5715000"/>
            <a:ext cx="4846320" cy="292608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17936" y="5806440"/>
            <a:ext cx="4663440" cy="27432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200" b="1">
                <a:solidFill>
                  <a:srgbClr val="000000"/>
                </a:solidFill>
              </a:rPr>
              <a:t>Out-of-sample check</a:t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200" b="0">
                <a:solidFill>
                  <a:srgbClr val="000000"/>
                </a:solidFill>
              </a:rPr>
              <a:t>Test NLL (QML): 764.6 ours vs 761.4 in the paper.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Full-covariance VI reproduces the MCMC posterior; diagonal BBVI is over-confident</a:t>
            </a:r>
          </a:p>
        </p:txBody>
      </p:sp>
      <p:pic>
        <p:nvPicPr>
          <p:cNvPr id="3" name="Picture 2" descr="06_posteri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345" y="1508760"/>
            <a:ext cx="15067628" cy="43434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548640" y="6035040"/>
            <a:ext cx="4846320" cy="594360"/>
          </a:xfrm>
          <a:prstGeom prst="rect">
            <a:avLst/>
          </a:prstGeom>
          <a:solidFill>
            <a:srgbClr val="06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Posterior SD of ω</a:t>
            </a:r>
          </a:p>
        </p:txBody>
      </p:sp>
      <p:sp>
        <p:nvSpPr>
          <p:cNvPr id="5" name="Rectangle 4"/>
          <p:cNvSpPr/>
          <p:nvPr/>
        </p:nvSpPr>
        <p:spPr>
          <a:xfrm>
            <a:off x="5715000" y="6035040"/>
            <a:ext cx="4846320" cy="594360"/>
          </a:xfrm>
          <a:prstGeom prst="rect">
            <a:avLst/>
          </a:prstGeom>
          <a:solidFill>
            <a:srgbClr val="2A6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Posterior SD of β</a:t>
            </a:r>
          </a:p>
        </p:txBody>
      </p:sp>
      <p:sp>
        <p:nvSpPr>
          <p:cNvPr id="6" name="Rectangle 5"/>
          <p:cNvSpPr/>
          <p:nvPr/>
        </p:nvSpPr>
        <p:spPr>
          <a:xfrm>
            <a:off x="10881360" y="6035040"/>
            <a:ext cx="4846320" cy="594360"/>
          </a:xfrm>
          <a:prstGeom prst="rect">
            <a:avLst/>
          </a:prstGeom>
          <a:solidFill>
            <a:srgbClr val="D08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</a:rPr>
              <a:t>Final ELBO (higher = closer)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629400"/>
            <a:ext cx="48463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6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675120"/>
            <a:ext cx="4846320" cy="19202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100" b="0">
                <a:solidFill>
                  <a:srgbClr val="000000"/>
                </a:solidFill>
              </a:rPr>
              <a:t>MCMC: 0.049</a:t>
            </a:r>
          </a:p>
          <a:p>
            <a:pPr algn="ctr"/>
            <a:r>
              <a:rPr sz="2100" b="0">
                <a:solidFill>
                  <a:srgbClr val="000000"/>
                </a:solidFill>
              </a:rPr>
              <a:t>Full-cov VI: 0.050</a:t>
            </a:r>
          </a:p>
          <a:p>
            <a:pPr algn="ctr"/>
            <a:r>
              <a:rPr sz="2100" b="0">
                <a:solidFill>
                  <a:srgbClr val="000000"/>
                </a:solidFill>
              </a:rPr>
              <a:t>BBVI: 0.022  (−55%)</a:t>
            </a:r>
          </a:p>
        </p:txBody>
      </p:sp>
      <p:sp>
        <p:nvSpPr>
          <p:cNvPr id="9" name="Rectangle 8"/>
          <p:cNvSpPr/>
          <p:nvPr/>
        </p:nvSpPr>
        <p:spPr>
          <a:xfrm>
            <a:off x="5715000" y="6629400"/>
            <a:ext cx="48463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6675120"/>
            <a:ext cx="4846320" cy="19202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100" b="0">
                <a:solidFill>
                  <a:srgbClr val="000000"/>
                </a:solidFill>
              </a:rPr>
              <a:t>MCMC: 0.036</a:t>
            </a:r>
          </a:p>
          <a:p>
            <a:pPr algn="ctr"/>
            <a:r>
              <a:rPr sz="2100" b="0">
                <a:solidFill>
                  <a:srgbClr val="000000"/>
                </a:solidFill>
              </a:rPr>
              <a:t>Full-cov VI: 0.035</a:t>
            </a:r>
          </a:p>
          <a:p>
            <a:pPr algn="ctr"/>
            <a:r>
              <a:rPr sz="2100" b="0">
                <a:solidFill>
                  <a:srgbClr val="000000"/>
                </a:solidFill>
              </a:rPr>
              <a:t>BBVI: 0.023  (−35%)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881360" y="6629400"/>
            <a:ext cx="4846320" cy="201168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881360" y="6675120"/>
            <a:ext cx="4846320" cy="19202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100" b="0">
                <a:solidFill>
                  <a:srgbClr val="000000"/>
                </a:solidFill>
              </a:rPr>
              <a:t>Full-cov VI: −1945.3</a:t>
            </a:r>
          </a:p>
          <a:p>
            <a:pPr algn="ctr"/>
            <a:r>
              <a:rPr sz="2100" b="0">
                <a:solidFill>
                  <a:srgbClr val="000000"/>
                </a:solidFill>
              </a:rPr>
              <a:t>BBVI: −1946.2</a:t>
            </a:r>
          </a:p>
          <a:p>
            <a:pPr algn="ctr"/>
            <a:r>
              <a:rPr sz="2100" b="0">
                <a:solidFill>
                  <a:srgbClr val="000000"/>
                </a:solidFill>
              </a:rPr>
              <a:t>Same ordering as the paper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Bayesian estimation turns volatility into a forecast with credible bands</a:t>
            </a:r>
          </a:p>
        </p:txBody>
      </p:sp>
      <p:pic>
        <p:nvPicPr>
          <p:cNvPr id="3" name="Picture 2" descr="08_volatility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027" y="1463040"/>
            <a:ext cx="14324265" cy="585216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11480" y="7452360"/>
            <a:ext cx="15453359" cy="1371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7452360"/>
            <a:ext cx="15270480" cy="13716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0">
                <a:solidFill>
                  <a:srgbClr val="000000"/>
                </a:solidFill>
              </a:rPr>
              <a:t>COVID-19 peak above 150% annualised; the 2022 rate-hike regime is tracked out of sample.  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>Average 90% band width (test): </a:t>
            </a:r>
            <a:r>
              <a:rPr sz="2000" b="1">
                <a:solidFill>
                  <a:srgbClr val="000000"/>
                </a:solidFill>
              </a:rPr>
              <a:t>MCMC 3.5 · Full-cov VI 3.5 · BBVI 3.1 vol-points</a:t>
            </a:r>
            <a:r>
              <a:rPr sz="2000" b="0">
                <a:solidFill>
                  <a:srgbClr val="000000"/>
                </a:solidFill>
              </a:rPr>
              <a:t> → diagonal VI is over-confident.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VI forecasts as well as QML and MCMC, but it is not faster for a 3-parameter GARCH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54480"/>
            <a:ext cx="7498079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1">
                <a:solidFill>
                  <a:srgbClr val="000000"/>
                </a:solidFill>
              </a:rPr>
              <a:t>Out-of-sample accuracy: % difference vs QML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240280"/>
          <a:ext cx="73152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188720"/>
                <a:gridCol w="1188720"/>
                <a:gridCol w="1188720"/>
                <a:gridCol w="1188720"/>
              </a:tblGrid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NLL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RMSE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MAD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QLIK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MCMC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+0.15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+0.23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−0.60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+0.26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BBVI (diagonal)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+0.19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+0.18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−0.82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+0.32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Full-cov VI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+0.13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−0.94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+0.27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074920"/>
            <a:ext cx="7315200" cy="9144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</a:rPr>
              <a:t>All methods within 1% of QML (paper: sub-1% on average). Lower is better; negative = better than QML.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183879" y="1600200"/>
            <a:ext cx="0" cy="4434840"/>
          </a:xfrm>
          <a:prstGeom prst="line">
            <a:avLst/>
          </a:prstGeom>
          <a:ln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503920" y="1554480"/>
            <a:ext cx="7315200" cy="6400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400" b="1">
                <a:solidFill>
                  <a:srgbClr val="000000"/>
                </a:solidFill>
              </a:rPr>
              <a:t>Computational cost (MSFT, one run)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8503920" y="2240280"/>
          <a:ext cx="73152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828800"/>
                <a:gridCol w="2377440"/>
              </a:tblGrid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FFFFFF"/>
                          </a:solidFill>
                        </a:rPr>
                        <a:t>Method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Run time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</a:rPr>
                        <a:t>Likelihood evals</a:t>
                      </a:r>
                    </a:p>
                  </a:txBody>
                  <a:tcPr anchor="ctr" marL="73152" marR="73152">
                    <a:solidFill>
                      <a:srgbClr val="2A6F8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QML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&lt; 0.01 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≈ 380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MCMC (RWM)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≈ 0.3 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30,000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BBVI (diagonal)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≈ 1 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125,000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/>
                      <a:r>
                        <a:rPr sz="2000" b="1">
                          <a:solidFill>
                            <a:srgbClr val="000000"/>
                          </a:solidFill>
                        </a:rPr>
                        <a:t>Full-cov VI (PyTorch)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≈ 16 s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000000"/>
                          </a:solidFill>
                        </a:rPr>
                        <a:t>15,000</a:t>
                      </a:r>
                    </a:p>
                  </a:txBody>
                  <a:tcPr anchor="ctr" marL="73152" marR="73152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411480" y="6309360"/>
            <a:ext cx="15453359" cy="23774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309360"/>
            <a:ext cx="15270480" cy="237744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D08F27"/>
                </a:solidFill>
              </a:rPr>
              <a:t>Honest result: </a:t>
            </a:r>
            <a:r>
              <a:rPr sz="2000" b="0">
                <a:solidFill>
                  <a:srgbClr val="000000"/>
                </a:solidFill>
              </a:rPr>
              <a:t>with 3 parameters, a well-tuned MCMC is cheap and VI is not faster. (PyTorch time is mostly Python overhead in the recursion loop.)</a:t>
            </a:r>
          </a:p>
          <a:p>
            <a:pPr algn="ctr"/>
            <a:r>
              <a:rPr sz="2000" b="0">
                <a:solidFill>
                  <a:srgbClr val="000000"/>
                </a:solidFill>
              </a:rPr>
              <a:t/>
            </a:r>
          </a:p>
          <a:p>
            <a:pPr algn="ctr"/>
            <a:r>
              <a:rPr sz="2000" b="1">
                <a:solidFill>
                  <a:srgbClr val="2A6F8A"/>
                </a:solidFill>
              </a:rPr>
              <a:t>VI’s real advantages: </a:t>
            </a:r>
            <a:r>
              <a:rPr sz="2000" b="0">
                <a:solidFill>
                  <a:srgbClr val="000000"/>
                </a:solidFill>
              </a:rPr>
              <a:t>one ELBO curve to monitor, the same hyperparameters for every stock, a reusable analytical posterior, and scalability to high-dimensional models where MCMC mixes slowly.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000" b="1">
                <a:solidFill>
                  <a:srgbClr val="000000"/>
                </a:solidFill>
              </a:rPr>
              <a:t>Extension: Student-t innovations capture the fat tails that Gaussian GARCH misses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600200"/>
            <a:ext cx="6035040" cy="475488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91640"/>
            <a:ext cx="5760720" cy="45720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000" b="1">
                <a:solidFill>
                  <a:srgbClr val="D08F27"/>
                </a:solidFill>
              </a:rPr>
              <a:t>Heavy Tails (Student-t Innovations)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000" b="1">
                <a:solidFill>
                  <a:srgbClr val="000000"/>
                </a:solidFill>
              </a:rPr>
              <a:t>• The problem: </a:t>
            </a:r>
            <a:r>
              <a:rPr sz="2000" b="0">
                <a:solidFill>
                  <a:srgbClr val="000000"/>
                </a:solidFill>
              </a:rPr>
              <a:t>Gaussian-GARCH residuals are still fat-tailed (left Q-Q).</a:t>
            </a:r>
          </a:p>
          <a:p>
            <a:pPr algn="l"/>
            <a:r>
              <a:rPr sz="2000" b="1">
                <a:solidFill>
                  <a:srgbClr val="000000"/>
                </a:solidFill>
              </a:rPr>
              <a:t>• The extension: </a:t>
            </a:r>
            <a:r>
              <a:rPr sz="2000" b="0">
                <a:solidFill>
                  <a:srgbClr val="000000"/>
                </a:solidFill>
              </a:rPr>
              <a:t>ν = 2 + exp(θν), estimated jointly with full-covariance VI (4 parameters).</a:t>
            </a:r>
          </a:p>
          <a:p>
            <a:pPr algn="l"/>
            <a:r>
              <a:rPr sz="2000" b="1">
                <a:solidFill>
                  <a:srgbClr val="000000"/>
                </a:solidFill>
              </a:rPr>
              <a:t>• The result: </a:t>
            </a:r>
            <a:r>
              <a:rPr sz="2000" b="0">
                <a:solidFill>
                  <a:srgbClr val="000000"/>
                </a:solidFill>
              </a:rPr>
              <a:t>ν ≈ 7.4 (90% interval 5.2–10.2), far from Normal.</a:t>
            </a:r>
          </a:p>
        </p:txBody>
      </p:sp>
      <p:pic>
        <p:nvPicPr>
          <p:cNvPr id="5" name="Picture 4" descr="10_qq_gauss_vs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2328151"/>
            <a:ext cx="9235440" cy="329897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6537960"/>
            <a:ext cx="4937760" cy="566928"/>
          </a:xfrm>
          <a:prstGeom prst="rect">
            <a:avLst/>
          </a:prstGeom>
          <a:solidFill>
            <a:srgbClr val="063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Criterion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0" y="6537960"/>
            <a:ext cx="5120640" cy="566928"/>
          </a:xfrm>
          <a:prstGeom prst="rect">
            <a:avLst/>
          </a:prstGeom>
          <a:solidFill>
            <a:srgbClr val="2A6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Gaussian VI-GARCH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44200" y="6537960"/>
            <a:ext cx="5120640" cy="566928"/>
          </a:xfrm>
          <a:prstGeom prst="rect">
            <a:avLst/>
          </a:prstGeom>
          <a:solidFill>
            <a:srgbClr val="D08F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Student-t VI-GARCH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7178040"/>
            <a:ext cx="4937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7178040"/>
            <a:ext cx="493776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ELBO (model evidence)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7178040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0" y="7178040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−1945.3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744200" y="7178040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44200" y="7178040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−1934.6  (+10.7)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7708392"/>
            <a:ext cx="493776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7708392"/>
            <a:ext cx="493776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Test log-likelihood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0" y="7708392"/>
            <a:ext cx="51206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0" y="7708392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−765.9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744200" y="7708392"/>
            <a:ext cx="5120640" cy="475488"/>
          </a:xfrm>
          <a:prstGeom prst="rect">
            <a:avLst/>
          </a:prstGeom>
          <a:solidFill>
            <a:srgbClr val="F2F2F2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44200" y="7708392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−754.1  (+11.8)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8238744"/>
            <a:ext cx="49377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8238744"/>
            <a:ext cx="493776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1">
                <a:solidFill>
                  <a:srgbClr val="000000"/>
                </a:solidFill>
              </a:rPr>
              <a:t>Volatility path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0" y="8238744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0" y="8238744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almost identical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744200" y="8238744"/>
            <a:ext cx="51206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744200" y="8238744"/>
            <a:ext cx="5120640" cy="475488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1800" b="0">
                <a:solidFill>
                  <a:srgbClr val="000000"/>
                </a:solidFill>
              </a:rPr>
              <a:t>almost identical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Scaling up: the same conclusion holds across 28 Dow Jones stocks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1463040"/>
            <a:ext cx="16258032" cy="685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" y="1463040"/>
            <a:ext cx="16075152" cy="68580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000000"/>
                </a:solidFill>
              </a:rPr>
              <a:t>Data: </a:t>
            </a:r>
            <a:r>
              <a:rPr sz="2000" b="0">
                <a:solidFill>
                  <a:srgbClr val="000000"/>
                </a:solidFill>
              </a:rPr>
              <a:t>28 Dow 30 stocks (DOW, WBA dropped: incomplete)  |  2018–2023  |  </a:t>
            </a:r>
            <a:r>
              <a:rPr sz="2000" b="1">
                <a:solidFill>
                  <a:srgbClr val="000000"/>
                </a:solidFill>
              </a:rPr>
              <a:t>Split: </a:t>
            </a:r>
            <a:r>
              <a:rPr sz="2000" b="0">
                <a:solidFill>
                  <a:srgbClr val="000000"/>
                </a:solidFill>
              </a:rPr>
              <a:t>75% / 25%  |  identical hyperparameters for every stock</a:t>
            </a:r>
          </a:p>
        </p:txBody>
      </p:sp>
      <p:pic>
        <p:nvPicPr>
          <p:cNvPr id="5" name="Picture 4" descr="12_panel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2392956"/>
            <a:ext cx="9692640" cy="390088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241280" y="2377440"/>
            <a:ext cx="5623560" cy="393192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332720" y="2468880"/>
            <a:ext cx="5440680" cy="3749039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1900" b="1">
                <a:solidFill>
                  <a:srgbClr val="2A6F8A"/>
                </a:solidFill>
              </a:rPr>
              <a:t>Mean % deviation vs QML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1900" b="1">
                <a:solidFill>
                  <a:srgbClr val="000000"/>
                </a:solidFill>
              </a:rPr>
              <a:t>Test NLL:  </a:t>
            </a:r>
            <a:r>
              <a:rPr sz="1900" b="0">
                <a:solidFill>
                  <a:srgbClr val="000000"/>
                </a:solidFill>
              </a:rPr>
              <a:t>MCMC +0.12 · BBVI +0.14</a:t>
            </a:r>
          </a:p>
          <a:p>
            <a:pPr algn="l"/>
            <a:r>
              <a:rPr sz="1900" b="1">
                <a:solidFill>
                  <a:srgbClr val="000000"/>
                </a:solidFill>
              </a:rPr>
              <a:t>Test QLIK: </a:t>
            </a:r>
            <a:r>
              <a:rPr sz="1900" b="0">
                <a:solidFill>
                  <a:srgbClr val="000000"/>
                </a:solidFill>
              </a:rPr>
              <a:t>MCMC +0.25 · BBVI +0.28</a:t>
            </a:r>
          </a:p>
          <a:p>
            <a:pPr algn="l"/>
            <a:r>
              <a:rPr sz="1900" b="1">
                <a:solidFill>
                  <a:srgbClr val="000000"/>
                </a:solidFill>
              </a:rPr>
              <a:t>Train NLL: </a:t>
            </a:r>
            <a:r>
              <a:rPr sz="1900" b="0">
                <a:solidFill>
                  <a:srgbClr val="000000"/>
                </a:solidFill>
              </a:rPr>
              <a:t>QML lowest for 100% of stocks (it maximises it by design)</a:t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1900" b="0">
                <a:solidFill>
                  <a:srgbClr val="000000"/>
                </a:solidFill>
              </a:rPr>
              <a:t>Average time per stock: MCMC ≈ 0.3 s, BBVI ≈ 1.1 s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583680"/>
            <a:ext cx="7589520" cy="1737360"/>
          </a:xfrm>
          <a:prstGeom prst="rect">
            <a:avLst/>
          </a:prstGeom>
          <a:solidFill>
            <a:srgbClr val="FFFFFF"/>
          </a:solidFill>
          <a:ln w="28575">
            <a:solidFill>
              <a:srgbClr val="2A6F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629400"/>
            <a:ext cx="7406640" cy="16459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100" b="1">
                <a:solidFill>
                  <a:srgbClr val="2A6F8A"/>
                </a:solidFill>
              </a:rPr>
              <a:t>This project (28 stocks)</a:t>
            </a:r>
          </a:p>
          <a:p>
            <a:pPr algn="l"/>
            <a:r>
              <a:rPr sz="2100" b="0">
                <a:solidFill>
                  <a:srgbClr val="000000"/>
                </a:solidFill>
              </a:rPr>
              <a:t>MCMC and BBVI forecasts sit within ≈ 0.3% of QML on average and are almost indistinguishable from each other.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6583680"/>
            <a:ext cx="7589520" cy="173736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21040" y="6629400"/>
            <a:ext cx="7406640" cy="16459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100" b="1">
                <a:solidFill>
                  <a:srgbClr val="D08F27"/>
                </a:solidFill>
              </a:rPr>
              <a:t>Magris &amp; Iosifidis (488 stocks)</a:t>
            </a:r>
          </a:p>
          <a:p>
            <a:pPr algn="l"/>
            <a:r>
              <a:rPr sz="2100" b="0">
                <a:solidFill>
                  <a:srgbClr val="000000"/>
                </a:solidFill>
              </a:rPr>
              <a:t>Across seven GARCH-family models and four VI optimisers, deviations from QML are sub-1% on average (paper, Table I).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5400" b="1">
                <a:solidFill>
                  <a:srgbClr val="000000"/>
                </a:solidFill>
              </a:rPr>
              <a:t>Execution Summary &amp; Core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600200"/>
            <a:ext cx="4983480" cy="4297680"/>
          </a:xfrm>
          <a:prstGeom prst="rect">
            <a:avLst/>
          </a:prstGeom>
          <a:solidFill>
            <a:srgbClr val="FFFFFF"/>
          </a:solidFill>
          <a:ln w="28575">
            <a:solidFill>
              <a:srgbClr val="063A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1208" y="1691640"/>
            <a:ext cx="4754880" cy="41148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300" b="1">
                <a:solidFill>
                  <a:srgbClr val="000000"/>
                </a:solidFill>
              </a:rPr>
              <a:t>Replication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Goal</a:t>
            </a:r>
            <a:r>
              <a:rPr sz="2300" b="0">
                <a:solidFill>
                  <a:srgbClr val="000000"/>
                </a:solidFill>
              </a:rPr>
              <a:t>: Implement VI for GARCH as in Magris &amp; Iosifidis (2023).</a:t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Result</a:t>
            </a:r>
            <a:r>
              <a:rPr sz="2300" b="0">
                <a:solidFill>
                  <a:srgbClr val="000000"/>
                </a:solidFill>
              </a:rPr>
              <a:t>: QML, MCMC and BBVI match the paper’s Table II within ≈ 0.02; the transforms guarantee α + β &lt; 1.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0" y="1600200"/>
            <a:ext cx="4983480" cy="4297680"/>
          </a:xfrm>
          <a:prstGeom prst="rect">
            <a:avLst/>
          </a:prstGeom>
          <a:solidFill>
            <a:srgbClr val="FFFFFF"/>
          </a:solidFill>
          <a:ln w="28575">
            <a:solidFill>
              <a:srgbClr val="4BAC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779008" y="1691640"/>
            <a:ext cx="4754880" cy="41148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300" b="1">
                <a:solidFill>
                  <a:srgbClr val="000000"/>
                </a:solidFill>
              </a:rPr>
              <a:t>Accuracy &amp; Uncertainty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Goal</a:t>
            </a:r>
            <a:r>
              <a:rPr sz="2300" b="0">
                <a:solidFill>
                  <a:srgbClr val="000000"/>
                </a:solidFill>
              </a:rPr>
              <a:t>: Match MCMC/QML accuracy.</a:t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Result</a:t>
            </a:r>
            <a:r>
              <a:rPr sz="2300" b="0">
                <a:solidFill>
                  <a:srgbClr val="000000"/>
                </a:solidFill>
              </a:rPr>
              <a:t>: VI is within 1% of QML out of sample (MSFT and 28 stocks). Full-cov VI ≈ MCMC posterior; diagonal BBVI is over-confident.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27080" y="1600200"/>
            <a:ext cx="4983480" cy="4297680"/>
          </a:xfrm>
          <a:prstGeom prst="rect">
            <a:avLst/>
          </a:prstGeom>
          <a:solidFill>
            <a:srgbClr val="FFFFFF"/>
          </a:solidFill>
          <a:ln w="28575">
            <a:solidFill>
              <a:srgbClr val="D08F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36807" y="1691640"/>
            <a:ext cx="4754880" cy="411480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300" b="1">
                <a:solidFill>
                  <a:srgbClr val="000000"/>
                </a:solidFill>
              </a:rPr>
              <a:t>Fat Tails &amp; Cost</a:t>
            </a:r>
          </a:p>
          <a:p>
            <a:pPr algn="l"/>
            <a:r>
              <a:rPr sz="2300" b="0">
                <a:solidFill>
                  <a:srgbClr val="000000"/>
                </a:solidFill>
              </a:rPr>
              <a:t/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Goal</a:t>
            </a:r>
            <a:r>
              <a:rPr sz="2300" b="0">
                <a:solidFill>
                  <a:srgbClr val="000000"/>
                </a:solidFill>
              </a:rPr>
              <a:t>: Model real-world returns efficiently.</a:t>
            </a:r>
          </a:p>
          <a:p>
            <a:pPr algn="l"/>
            <a:r>
              <a:rPr sz="2300" b="1">
                <a:solidFill>
                  <a:srgbClr val="000000"/>
                </a:solidFill>
              </a:rPr>
              <a:t>• Result</a:t>
            </a:r>
            <a:r>
              <a:rPr sz="2300" b="0">
                <a:solidFill>
                  <a:srgbClr val="000000"/>
                </a:solidFill>
              </a:rPr>
              <a:t>: Student-t (ν ≈ 7) wins on ELBO and test log-likelihood. At 3 parameters MCMC is cheap; VI pays off through generic tuning and scale.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6172200"/>
            <a:ext cx="15453359" cy="109728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3000" b="0">
                <a:solidFill>
                  <a:srgbClr val="000000"/>
                </a:solidFill>
              </a:rPr>
              <a:t>Variational Inference is an accurate, well-calibrated alternative to MCMC for GARCH,</a:t>
            </a:r>
          </a:p>
          <a:p>
            <a:pPr algn="ctr"/>
            <a:r>
              <a:rPr sz="3000" b="0">
                <a:solidFill>
                  <a:srgbClr val="000000"/>
                </a:solidFill>
              </a:rPr>
              <a:t>as long as the variational family is rich enough (full covariance).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7589520"/>
            <a:ext cx="15453359" cy="7315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ctr"/>
            <a:r>
              <a:rPr sz="2000" b="1">
                <a:solidFill>
                  <a:srgbClr val="2A6F8A"/>
                </a:solidFill>
              </a:rPr>
              <a:t>Next steps: </a:t>
            </a:r>
            <a:r>
              <a:rPr sz="2000" b="0">
                <a:solidFill>
                  <a:srgbClr val="2A6F8A"/>
                </a:solidFill>
              </a:rPr>
              <a:t>GJR / EGARCH / FIGARCH · natural-gradient optimisers (QBVI, MGVB) · realised-volatility proxies from intraday data (e.g. WRDS TAQ)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"/>
            <a:ext cx="14996159" cy="1325880"/>
          </a:xfrm>
          <a:prstGeom prst="rect">
            <a:avLst/>
          </a:prstGeom>
          <a:noFill/>
        </p:spPr>
        <p:txBody>
          <a:bodyPr wrap="square" anchor="ctr" lIns="73152" rIns="73152" tIns="73152" bIns="73152">
            <a:spAutoFit/>
          </a:bodyPr>
          <a:lstStyle/>
          <a:p>
            <a:pPr algn="l"/>
            <a:r>
              <a:rPr sz="4400" b="1">
                <a:solidFill>
                  <a:srgbClr val="000000"/>
                </a:solidFill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4996159" cy="7132320"/>
          </a:xfrm>
          <a:prstGeom prst="rect">
            <a:avLst/>
          </a:prstGeom>
          <a:noFill/>
        </p:spPr>
        <p:txBody>
          <a:bodyPr wrap="square" anchor="t" lIns="73152" rIns="73152" tIns="73152" bIns="73152">
            <a:spAutoFit/>
          </a:bodyPr>
          <a:lstStyle/>
          <a:p>
            <a:pPr algn="l"/>
            <a:r>
              <a:rPr sz="2000" b="0">
                <a:solidFill>
                  <a:srgbClr val="000000"/>
                </a:solidFill>
              </a:rPr>
              <a:t>Magris, M., &amp; Iosifidis, A. (2023). Variational Inference for GARCH-family Models. arXiv:2310.03435.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Blei, D. M., Kucukelbir, A., &amp; McAuliffe, J. D. (2017). Variational Inference: A Review for Statisticians. JASA, 112(518), 859–877.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Bollerslev, T. (1986). Generalized Autoregressive Conditional Heteroskedasticity. Journal of Econometrics, 31(3), 307–327.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Bollerslev, T. (1987). A Conditionally Heteroskedastic Time Series Model for Speculative Prices and Rates of Return. REStat, 69(3), 542–547.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Ranganath, R., Gerrish, S., &amp; Blei, D. (2014). Black Box Variational Inference. AISTATS.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Kingma, D. P., &amp; Welling, M. (2014). Auto-Encoding Variational Bayes. ICLR.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Roberts, G. O., Gelman, A., &amp; Gilks, W. R. (1997). Optimal Scaling of Random Walk Metropolis Algorithms. Annals of Applied Probability, 7(1).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Patton, A. J. (2011). Volatility Forecast Comparison Using Imperfect Volatility Proxies. Journal of Econometrics, 160(1), 246–256.</a:t>
            </a:r>
          </a:p>
          <a:p>
            <a:pPr algn="l"/>
            <a:r>
              <a:rPr sz="2000" b="0">
                <a:solidFill>
                  <a:srgbClr val="000000"/>
                </a:solidFill>
              </a:rPr>
              <a:t>Code &amp; data: github.com/SGhuman123/Fordham-Time-Series-Econometrics (VI_GARCH.ipynb)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467</TotalTime>
  <Words>3493</Words>
  <Application>Microsoft Macintosh PowerPoint</Application>
  <PresentationFormat>Custom</PresentationFormat>
  <Paragraphs>287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Cambria Math</vt:lpstr>
      <vt:lpstr>Monaco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James Huang</cp:lastModifiedBy>
  <cp:revision>32</cp:revision>
  <dcterms:created xsi:type="dcterms:W3CDTF">2006-08-16T00:00:00Z</dcterms:created>
  <dcterms:modified xsi:type="dcterms:W3CDTF">2026-05-04T15:58:33Z</dcterms:modified>
</cp:coreProperties>
</file>