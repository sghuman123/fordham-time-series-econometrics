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90" r:id="rId3"/>
    <p:sldId id="257" r:id="rId4"/>
    <p:sldId id="269" r:id="rId5"/>
    <p:sldId id="259" r:id="rId6"/>
    <p:sldId id="278" r:id="rId7"/>
    <p:sldId id="273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7F8"/>
    <a:srgbClr val="F4A012"/>
    <a:srgbClr val="D08F27"/>
    <a:srgbClr val="03708B"/>
    <a:srgbClr val="D8D8D8"/>
    <a:srgbClr val="063A47"/>
    <a:srgbClr val="4FC7D8"/>
    <a:srgbClr val="F3F3F6"/>
    <a:srgbClr val="C6EFF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60443" autoAdjust="0"/>
  </p:normalViewPr>
  <p:slideViewPr>
    <p:cSldViewPr>
      <p:cViewPr varScale="1">
        <p:scale>
          <a:sx n="49" d="100"/>
          <a:sy n="49" d="100"/>
        </p:scale>
        <p:origin x="219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FA3D5-BD31-954D-B07C-0CE908957AF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5836E-7A3E-3E4F-97CD-9521615F1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1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Today I will be discussing 'Bayesian Volatility at Scale.’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My project bridges the gap between traditional financial econometrics and modern machine learning frameworks.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While the GARCH framework is the gold standard for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time-varying volatility, estimating these models under a Bayesian framework has historically been a computational nightmare.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Today, I’ll show how Variational Inference, allows us to scale these models using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handle the complexities of modern financial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5836E-7A3E-3E4F-97CD-9521615F10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68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To understand the importance of our chosen approach, we first look at the industry standard.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Which is the Traditional Bayesian estimation that relies on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Markov Chain Monte Carlo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MCMC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sampling.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Looking at the diagram on the left, MCMC relies on random sampling to explore the posterior distribution.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While statistically accurate, this creates a massive computational bottleneck because it must 'walk' through the space step-by-step which makes it extremely difficult to scale in high-dimensional settings, making it too slow for the demands of real-time financial applications.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As such, we pivot from MCMC towards the precision of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Optimization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On the right, our chosen architecture—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Variational Inference (VI)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—recasts Bayesian estimation as a gradient descent problem.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We use the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 optimizer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efficiently drive toward the solution.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By treating estimation as an optimization task, this allows for high-dimensional scaling through modern machine learning frameworks like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Through which, we unlock the speed &amp; scalability needed for modern volatility modelling.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5836E-7A3E-3E4F-97CD-9521615F10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81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brings us to the core of our methodology: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Variational Inference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We recast the entire Bayesian estimation problem into a scalable optimization task. Let’s look at three distinct parts: </a:t>
            </a: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</a:t>
            </a:r>
            <a:r>
              <a:rPr lang="en-SG" sz="1200" b="1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The Intractable True Posterior: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traditional financial modelling, the marginal likelihood $p(y)$ is often intractable. Meaning we can’t calculate the 'true' posterior distribution analytically.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As you can see by the irregular black line, this distribution is complex and difficult to work with.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- 2</a:t>
            </a:r>
            <a:r>
              <a:rPr lang="en-SG" sz="1200" b="1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Variational Family: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Instead of struggling with that complexity, we introduce a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Variational Family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We chose a family of tractable proxy distributions, $q(\theta)$, parameterized by $\zeta$—typically a Gaussian distribution.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gives us a smooth, mathematically 'friendly' starting point. </a:t>
            </a:r>
          </a:p>
          <a:p>
            <a:endParaRPr lang="en-S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- 3</a:t>
            </a:r>
            <a:r>
              <a:rPr lang="en-SG" sz="1200" b="1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Optimization Bridge: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Finally, we build the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Optimization Bridge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This minimizes the </a:t>
            </a:r>
            <a:r>
              <a:rPr lang="en-SG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Kullback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-Leibler (KL) Divergence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acts as a force that pulls our proxy distribution $q(\theta)$ until it matches the true posterior as close as possible.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By following this process, we stop trying to sample every point in a hairball and instead use gradient descent to find the optimal fit.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5836E-7A3E-3E4F-97CD-9521615F10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96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 heart of this optimization is the Evidence Lower Bound, or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ELBO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 ELBO is the equation seen here: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$$\text{ELBO}(q) = \</a:t>
            </a:r>
            <a:r>
              <a:rPr lang="en-SG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{E}[\log p(\text{data} | \theta)] - KL(q(\theta) || p(\theta))$$</a:t>
            </a:r>
            <a:endParaRPr lang="en-S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S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This equation consist of 2 components that the ELBO has to balance out.</a:t>
            </a: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Expected Log-Likelihood: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maximizes how well the model fits the empirical financial data. </a:t>
            </a: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KL Divergence: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Which acts as a natural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regularizer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penalizing the model if it deviates too far from our prior beliefs, $p(\theta)$.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By maximizing the ELBO, we are simultaneously finding the best fit and preventing overfitting.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5836E-7A3E-3E4F-97CD-9521615F10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39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T- o train this, we implement a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Black-Box VI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loop that allows for pure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optimization.</a:t>
            </a: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begin by sampling from our variational distribution, $q(\theta)$, which Normal distributed with mean $\mu$ and variance $\sigma^2$ and we use the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reparameterization trick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here to ensure the entire loop remains differentiable. </a:t>
            </a: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then Calculate Expected Log-Likelihood 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passing those samples into our GARCH model. By using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Monte Carlo sampling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just 5 samples, we can quickly approximate the likelihood of our financial data without sacrificing too much speed. </a:t>
            </a: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Simultaneously, we calculate the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 Divergence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As seen on the graph, this acts as a penalty that prevents our proxy distribution from deviating too far from our prior, $p(\theta)$. </a:t>
            </a: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we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Backpropagate ELBO Loss,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which the log-likelihood &amp; KL Divergence component feed into our central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ELBO Objective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then call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loss.backward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with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 Clipping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essential in volatility models to prevent gradients from 'exploding' during market stress periods. </a:t>
            </a:r>
          </a:p>
          <a:p>
            <a:pPr lvl="0"/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the </a:t>
            </a:r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 Optimizer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takes a step to update our $\mu$ and $\sigma^2$.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This loop lets us use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PyTorch’s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optimization suite for econometric modelling.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5836E-7A3E-3E4F-97CD-9521615F10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31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37.png"/><Relationship Id="rId5" Type="http://schemas.openxmlformats.org/officeDocument/2006/relationships/image" Target="../media/image18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ABD0BF-743F-0404-F534-6BB7736FF2C6}"/>
              </a:ext>
            </a:extLst>
          </p:cNvPr>
          <p:cNvSpPr/>
          <p:nvPr/>
        </p:nvSpPr>
        <p:spPr>
          <a:xfrm>
            <a:off x="2832100" y="549221"/>
            <a:ext cx="105918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ysClr val="windowText" lastClr="000000"/>
                </a:solidFill>
              </a:rPr>
              <a:t>Bayesian Volatility at Scale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4B47AF-FD01-46A5-F07E-039CCB3C8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14" y="2286000"/>
            <a:ext cx="14250171" cy="54929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6929CD-2B2B-FA6D-D1B0-578686E331AE}"/>
              </a:ext>
            </a:extLst>
          </p:cNvPr>
          <p:cNvSpPr/>
          <p:nvPr/>
        </p:nvSpPr>
        <p:spPr>
          <a:xfrm>
            <a:off x="1346200" y="3025721"/>
            <a:ext cx="12801600" cy="2438400"/>
          </a:xfrm>
          <a:prstGeom prst="rect">
            <a:avLst/>
          </a:prstGeom>
          <a:solidFill>
            <a:srgbClr val="2731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Monaco" pitchFamily="2" charset="77"/>
              </a:rPr>
              <a:t>&gt; Loading </a:t>
            </a:r>
            <a:r>
              <a:rPr lang="en-US" sz="3600" dirty="0" err="1">
                <a:latin typeface="Monaco" pitchFamily="2" charset="77"/>
              </a:rPr>
              <a:t>project_proposal.pdf</a:t>
            </a:r>
            <a:r>
              <a:rPr lang="en-US" sz="3600" dirty="0">
                <a:latin typeface="Monaco" pitchFamily="2" charset="77"/>
              </a:rPr>
              <a:t>… </a:t>
            </a:r>
            <a:r>
              <a:rPr lang="en-US" sz="3600" dirty="0">
                <a:solidFill>
                  <a:srgbClr val="00B0F0"/>
                </a:solidFill>
                <a:latin typeface="Monaco" pitchFamily="2" charset="77"/>
              </a:rPr>
              <a:t>[OK]</a:t>
            </a:r>
          </a:p>
          <a:p>
            <a:r>
              <a:rPr lang="en-US" sz="3600" dirty="0">
                <a:latin typeface="Monaco" pitchFamily="2" charset="77"/>
              </a:rPr>
              <a:t>&gt; Parsing </a:t>
            </a:r>
            <a:r>
              <a:rPr lang="en-US" sz="3600" dirty="0" err="1">
                <a:latin typeface="Monaco" pitchFamily="2" charset="77"/>
              </a:rPr>
              <a:t>Magris</a:t>
            </a:r>
            <a:r>
              <a:rPr lang="en-US" sz="3600" dirty="0">
                <a:latin typeface="Monaco" pitchFamily="2" charset="77"/>
              </a:rPr>
              <a:t> &amp; Iosifidis (2023)… </a:t>
            </a:r>
            <a:r>
              <a:rPr lang="en-US" sz="3600" dirty="0">
                <a:solidFill>
                  <a:srgbClr val="00B0F0"/>
                </a:solidFill>
                <a:latin typeface="Monaco" pitchFamily="2" charset="77"/>
              </a:rPr>
              <a:t>[OK]</a:t>
            </a:r>
          </a:p>
          <a:p>
            <a:r>
              <a:rPr lang="en-US" sz="3600" dirty="0">
                <a:latin typeface="Monaco" pitchFamily="2" charset="77"/>
              </a:rPr>
              <a:t>&gt; Executing VI_GARCH.ipynb… </a:t>
            </a:r>
            <a:r>
              <a:rPr lang="en-US" sz="3600" dirty="0">
                <a:solidFill>
                  <a:srgbClr val="00B0F0"/>
                </a:solidFill>
                <a:latin typeface="Monaco" pitchFamily="2" charset="77"/>
              </a:rPr>
              <a:t>[DONE]</a:t>
            </a:r>
          </a:p>
          <a:p>
            <a:r>
              <a:rPr lang="en-US" sz="3600" dirty="0">
                <a:latin typeface="Monaco" pitchFamily="2" charset="77"/>
              </a:rPr>
              <a:t>&gt; QML · MCMC · BBVI · Full-cov VI… </a:t>
            </a:r>
            <a:r>
              <a:rPr lang="en-US" sz="3600" dirty="0">
                <a:solidFill>
                  <a:srgbClr val="00B0F0"/>
                </a:solidFill>
                <a:latin typeface="Monaco" pitchFamily="2" charset="77"/>
              </a:rPr>
              <a:t>[OK]</a:t>
            </a:r>
          </a:p>
          <a:p>
            <a:endParaRPr lang="en-US" sz="3600" dirty="0">
              <a:solidFill>
                <a:srgbClr val="00B0F0"/>
              </a:solidFill>
              <a:latin typeface="Monaco" pitchFamily="2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7F57C6-15C7-DC1C-E70E-153A1918D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207" y="8286132"/>
            <a:ext cx="16311207" cy="938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5E164D-A1D3-19D5-3595-1ACEE0F9F464}"/>
              </a:ext>
            </a:extLst>
          </p:cNvPr>
          <p:cNvSpPr/>
          <p:nvPr/>
        </p:nvSpPr>
        <p:spPr>
          <a:xfrm>
            <a:off x="644070" y="8872406"/>
            <a:ext cx="14967857" cy="1433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Monaco" pitchFamily="2" charset="77"/>
              </a:rPr>
              <a:t>Runtime: </a:t>
            </a:r>
            <a:r>
              <a:rPr lang="en-US" sz="3200" dirty="0" err="1">
                <a:solidFill>
                  <a:schemeClr val="tx1"/>
                </a:solidFill>
                <a:latin typeface="Monaco" pitchFamily="2" charset="77"/>
              </a:rPr>
              <a:t>NumPy + PyTorch</a:t>
            </a:r>
            <a:r>
              <a:rPr lang="en-US" sz="3200" dirty="0">
                <a:solidFill>
                  <a:schemeClr val="tx1"/>
                </a:solidFill>
                <a:latin typeface="Monaco" pitchFamily="2" charset="77"/>
              </a:rPr>
              <a:t> | Data: MSFT | Method: VI</a:t>
            </a:r>
          </a:p>
          <a:p>
            <a:endParaRPr lang="en-US" sz="3600" dirty="0">
              <a:solidFill>
                <a:srgbClr val="00B0F0"/>
              </a:solidFill>
              <a:latin typeface="Monaco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The project in plain English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691640"/>
            <a:ext cx="3703320" cy="731520"/>
          </a:xfrm>
          <a:prstGeom prst="rect">
            <a:avLst/>
          </a:prstGeom>
          <a:solidFill>
            <a:srgbClr val="06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What is volatility?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423160"/>
            <a:ext cx="3703320" cy="4206240"/>
          </a:xfrm>
          <a:prstGeom prst="rect">
            <a:avLst/>
          </a:prstGeom>
          <a:solidFill>
            <a:srgbClr val="FFFFFF"/>
          </a:solidFill>
          <a:ln w="28575">
            <a:solidFill>
              <a:srgbClr val="06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2560320"/>
            <a:ext cx="3474720" cy="3931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How bumpy a stock’s ride is. Stormy days cluster together, a bit like the weather.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691640"/>
            <a:ext cx="3703320" cy="731520"/>
          </a:xfrm>
          <a:prstGeom prst="rect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Why forecast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423160"/>
            <a:ext cx="3703320" cy="4206240"/>
          </a:xfrm>
          <a:prstGeom prst="rect">
            <a:avLst/>
          </a:prstGeom>
          <a:solidFill>
            <a:srgbClr val="FFFFFF"/>
          </a:solidFill>
          <a:ln w="2857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3128" y="2560320"/>
            <a:ext cx="3474720" cy="3931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Banks and investors use it to set risk limits, price options and decide how much to invest.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19" y="1691640"/>
            <a:ext cx="3703320" cy="731520"/>
          </a:xfrm>
          <a:prstGeom prst="rect">
            <a:avLst/>
          </a:prstGeom>
          <a:solidFill>
            <a:srgbClr val="2A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What did we compare?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19" y="2423160"/>
            <a:ext cx="3703320" cy="4206240"/>
          </a:xfrm>
          <a:prstGeom prst="rect">
            <a:avLst/>
          </a:prstGeom>
          <a:solidFill>
            <a:srgbClr val="FFFFFF"/>
          </a:solidFill>
          <a:ln w="28575">
            <a:solidFill>
              <a:srgbClr val="2A6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7" y="2560320"/>
            <a:ext cx="3474720" cy="3931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The trusted-but-slower Bayesian method (MCMC) against a machine-learning shortcut (VI) for fitting the standard volatility model, GARCH.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07239" y="1691640"/>
            <a:ext cx="3703320" cy="731520"/>
          </a:xfrm>
          <a:prstGeom prst="rect">
            <a:avLst/>
          </a:prstGeom>
          <a:solidFill>
            <a:srgbClr val="D08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What did we find?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07239" y="2423160"/>
            <a:ext cx="3703320" cy="4206240"/>
          </a:xfrm>
          <a:prstGeom prst="rect">
            <a:avLst/>
          </a:prstGeom>
          <a:solidFill>
            <a:srgbClr val="FFFFFF"/>
          </a:solidFill>
          <a:ln w="28575">
            <a:solidFill>
              <a:srgbClr val="D08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16967" y="2560320"/>
            <a:ext cx="3474720" cy="3931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Same forecasts (within 1%). Simple VI is over-confident; full VI is not. For this small model, the shortcut is not faster.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949440"/>
            <a:ext cx="15453359" cy="1737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949440"/>
            <a:ext cx="15270480" cy="1737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2A6F8A"/>
                </a:solidFill>
              </a:rPr>
              <a:t>Analogy: </a:t>
            </a:r>
            <a:r>
              <a:rPr sz="2400" b="0">
                <a:solidFill>
                  <a:srgbClr val="000000"/>
                </a:solidFill>
              </a:rPr>
              <a:t>MCMC explores a landscape on foot, step by step. VI flies over it and fits a simple map. The question is whether the map is accurate enough to navigate by.</a:t>
            </a:r>
          </a:p>
          <a:p>
            <a:pPr algn="ctr"/>
            <a:r>
              <a:rPr sz="2400" b="1">
                <a:solidFill>
                  <a:srgbClr val="000000"/>
                </a:solidFill>
              </a:rPr>
              <a:t>Data: </a:t>
            </a:r>
            <a:r>
              <a:rPr sz="2400" b="0">
                <a:solidFill>
                  <a:srgbClr val="000000"/>
                </a:solidFill>
              </a:rPr>
              <a:t>Microsoft daily prices 2018–2023 (the paper’s own example), plus 28 large US companies.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6E2571-A28A-EE04-7375-59614273C902}"/>
              </a:ext>
            </a:extLst>
          </p:cNvPr>
          <p:cNvSpPr/>
          <p:nvPr/>
        </p:nvSpPr>
        <p:spPr>
          <a:xfrm>
            <a:off x="1230997" y="120237"/>
            <a:ext cx="13487400" cy="1271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ysClr val="windowText" lastClr="000000"/>
                </a:solidFill>
              </a:rPr>
              <a:t>MCMC is the Bayesian gold standard, but it becomes a bottleneck at scale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4CE173-D0CD-5C9A-EB66-936D19A21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" y="1676400"/>
            <a:ext cx="7301089" cy="6934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BF7858-7424-A715-72BE-BA1A604F509C}"/>
              </a:ext>
            </a:extLst>
          </p:cNvPr>
          <p:cNvSpPr/>
          <p:nvPr/>
        </p:nvSpPr>
        <p:spPr>
          <a:xfrm>
            <a:off x="822000" y="6819900"/>
            <a:ext cx="7004304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25438" indent="-325438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ysClr val="windowText" lastClr="000000"/>
                </a:solidFill>
              </a:rPr>
              <a:t>Method</a:t>
            </a:r>
            <a:r>
              <a:rPr lang="en-US" sz="2600" dirty="0">
                <a:solidFill>
                  <a:sysClr val="windowText" lastClr="000000"/>
                </a:solidFill>
              </a:rPr>
              <a:t>: Random-walk posterior sampling</a:t>
            </a:r>
          </a:p>
          <a:p>
            <a:pPr marL="325438" indent="-325438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ysClr val="windowText" lastClr="000000"/>
                </a:solidFill>
              </a:rPr>
              <a:t>Cost</a:t>
            </a:r>
            <a:r>
              <a:rPr lang="en-US" sz="2600" dirty="0">
                <a:solidFill>
                  <a:sysClr val="windowText" lastClr="000000"/>
                </a:solidFill>
              </a:rPr>
              <a:t>: Sequential draws, tuning, diagnostics</a:t>
            </a:r>
          </a:p>
          <a:p>
            <a:pPr marL="325438" indent="-325438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ysClr val="windowText" lastClr="000000"/>
                </a:solidFill>
              </a:rPr>
              <a:t>Scalability</a:t>
            </a:r>
            <a:r>
              <a:rPr lang="en-US" sz="2600" dirty="0">
                <a:solidFill>
                  <a:sysClr val="windowText" lastClr="000000"/>
                </a:solidFill>
              </a:rPr>
              <a:t>: Mixes slowly in high dimensions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FC8277-A8FF-CB9C-A87C-87B614E9A995}"/>
              </a:ext>
            </a:extLst>
          </p:cNvPr>
          <p:cNvSpPr/>
          <p:nvPr/>
        </p:nvSpPr>
        <p:spPr>
          <a:xfrm>
            <a:off x="822000" y="1858518"/>
            <a:ext cx="7004304" cy="931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ysClr val="windowText" lastClr="000000"/>
                </a:solidFill>
              </a:rPr>
              <a:t>Traditional Bayesian Estimation</a:t>
            </a:r>
          </a:p>
          <a:p>
            <a:pPr algn="ctr"/>
            <a:r>
              <a:rPr lang="en-US" sz="3200" b="1" dirty="0">
                <a:solidFill>
                  <a:sysClr val="windowText" lastClr="000000"/>
                </a:solidFill>
              </a:rPr>
              <a:t>(Markov Chain Monte Carlo)</a:t>
            </a:r>
            <a:endParaRPr lang="en-US" sz="3200" dirty="0">
              <a:solidFill>
                <a:sysClr val="windowText" lastClr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F80F27-D845-76A7-81EF-894CCDA77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79" y="2814066"/>
            <a:ext cx="5987946" cy="40879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3DA38E-B96F-4ABA-5F88-FC2A00297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227" y="1676400"/>
            <a:ext cx="7301089" cy="6934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0A9860-2744-E1FA-B604-20B809B7FBC9}"/>
              </a:ext>
            </a:extLst>
          </p:cNvPr>
          <p:cNvSpPr/>
          <p:nvPr/>
        </p:nvSpPr>
        <p:spPr>
          <a:xfrm>
            <a:off x="8466619" y="6819900"/>
            <a:ext cx="7004304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25438" indent="-325438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ysClr val="windowText" lastClr="000000"/>
                </a:solidFill>
              </a:rPr>
              <a:t>Method</a:t>
            </a:r>
            <a:r>
              <a:rPr lang="en-US" sz="2600" dirty="0">
                <a:solidFill>
                  <a:sysClr val="windowText" lastClr="000000"/>
                </a:solidFill>
              </a:rPr>
              <a:t>: Optimize the ELBO (momentum / Adam)</a:t>
            </a:r>
          </a:p>
          <a:p>
            <a:pPr marL="325438" indent="-325438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ysClr val="windowText" lastClr="000000"/>
                </a:solidFill>
              </a:rPr>
              <a:t>Cost</a:t>
            </a:r>
            <a:r>
              <a:rPr lang="en-US" sz="2600" dirty="0">
                <a:solidFill>
                  <a:sysClr val="windowText" lastClr="000000"/>
                </a:solidFill>
              </a:rPr>
              <a:t>: One convergence curve, generic tuning</a:t>
            </a:r>
          </a:p>
          <a:p>
            <a:pPr marL="325438" indent="-325438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ysClr val="windowText" lastClr="000000"/>
                </a:solidFill>
              </a:rPr>
              <a:t>Scalability</a:t>
            </a:r>
            <a:r>
              <a:rPr lang="en-US" sz="2600" dirty="0">
                <a:solidFill>
                  <a:sysClr val="windowText" lastClr="000000"/>
                </a:solidFill>
              </a:rPr>
              <a:t>: Built for high-dimensional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2F22F1-6F1E-AB30-2819-4A6C11AC9063}"/>
              </a:ext>
            </a:extLst>
          </p:cNvPr>
          <p:cNvSpPr/>
          <p:nvPr/>
        </p:nvSpPr>
        <p:spPr>
          <a:xfrm>
            <a:off x="8466619" y="1858518"/>
            <a:ext cx="7004304" cy="931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ysClr val="windowText" lastClr="000000"/>
                </a:solidFill>
              </a:rPr>
              <a:t>The Chosen Architecture</a:t>
            </a:r>
          </a:p>
          <a:p>
            <a:pPr algn="ctr"/>
            <a:r>
              <a:rPr lang="en-US" sz="3200" b="1" dirty="0">
                <a:solidFill>
                  <a:sysClr val="windowText" lastClr="000000"/>
                </a:solidFill>
              </a:rPr>
              <a:t>(Variational Inference)</a:t>
            </a:r>
            <a:endParaRPr lang="en-US" sz="3200" dirty="0">
              <a:solidFill>
                <a:sysClr val="windowText" lastClr="00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9CF051-50BF-AC02-1B63-2B2046E23B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688" y="2854452"/>
            <a:ext cx="7260500" cy="36578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4E21-5417-0D25-543F-D7BFE2FA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F95576-046C-CFE2-2860-87D7D2378CF3}"/>
              </a:ext>
            </a:extLst>
          </p:cNvPr>
          <p:cNvSpPr/>
          <p:nvPr/>
        </p:nvSpPr>
        <p:spPr>
          <a:xfrm>
            <a:off x="850900" y="762000"/>
            <a:ext cx="145542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sysClr val="windowText" lastClr="000000"/>
                </a:solidFill>
              </a:rPr>
              <a:t>Variational Inference recasts Bayesian estimation into a scalable optimization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7C30C4-9597-21EF-D294-815E504A5572}"/>
              </a:ext>
            </a:extLst>
          </p:cNvPr>
          <p:cNvSpPr/>
          <p:nvPr/>
        </p:nvSpPr>
        <p:spPr>
          <a:xfrm>
            <a:off x="865124" y="2971800"/>
            <a:ext cx="3924300" cy="51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800" b="1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BE4CC8-1366-EF67-476B-32D08FC0378A}"/>
              </a:ext>
            </a:extLst>
          </p:cNvPr>
          <p:cNvSpPr/>
          <p:nvPr/>
        </p:nvSpPr>
        <p:spPr>
          <a:xfrm>
            <a:off x="6143593" y="2971800"/>
            <a:ext cx="3924300" cy="51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8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27ED50-6731-72B7-8036-D185186E6590}"/>
              </a:ext>
            </a:extLst>
          </p:cNvPr>
          <p:cNvSpPr/>
          <p:nvPr/>
        </p:nvSpPr>
        <p:spPr>
          <a:xfrm>
            <a:off x="11422062" y="2971800"/>
            <a:ext cx="3924300" cy="51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800" b="1" dirty="0">
              <a:solidFill>
                <a:sysClr val="windowText" lastClr="0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A5CB3F-269A-FC3A-3CBB-9A203D5B1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94" y="2791968"/>
            <a:ext cx="14679211" cy="55138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C2E0D8-F9CD-D558-58A0-FF2AD68AA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38" y="4090273"/>
            <a:ext cx="3879786" cy="2539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56A44B-B5C5-F116-7FF9-45F992CE1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593" y="4447106"/>
            <a:ext cx="3924300" cy="2182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C003B2-2DB7-432B-A1DF-B4F4B9A40C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38" y="4184904"/>
            <a:ext cx="3924300" cy="18666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EFAFFF-B386-37D9-C25B-74A98B47AA29}"/>
              </a:ext>
            </a:extLst>
          </p:cNvPr>
          <p:cNvSpPr/>
          <p:nvPr/>
        </p:nvSpPr>
        <p:spPr>
          <a:xfrm>
            <a:off x="1041400" y="3041904"/>
            <a:ext cx="3693668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ysClr val="windowText" lastClr="000000"/>
                </a:solidFill>
              </a:rPr>
              <a:t>1. The Intractable True Posterior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651269-490D-C68B-C3DC-DEBE56C262F2}"/>
              </a:ext>
            </a:extLst>
          </p:cNvPr>
          <p:cNvSpPr/>
          <p:nvPr/>
        </p:nvSpPr>
        <p:spPr>
          <a:xfrm>
            <a:off x="6281166" y="3041904"/>
            <a:ext cx="3693668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ysClr val="windowText" lastClr="000000"/>
                </a:solidFill>
              </a:rPr>
              <a:t>2. The Variational Family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441107-CB34-4BDF-1D80-A0AA79F788B1}"/>
              </a:ext>
            </a:extLst>
          </p:cNvPr>
          <p:cNvSpPr/>
          <p:nvPr/>
        </p:nvSpPr>
        <p:spPr>
          <a:xfrm>
            <a:off x="11328401" y="3041904"/>
            <a:ext cx="4076699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ysClr val="windowText" lastClr="000000"/>
                </a:solidFill>
              </a:rPr>
              <a:t>3. The Optimization Bridge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786391-A0F7-C041-A62D-31BBDB02781B}"/>
              </a:ext>
            </a:extLst>
          </p:cNvPr>
          <p:cNvSpPr/>
          <p:nvPr/>
        </p:nvSpPr>
        <p:spPr>
          <a:xfrm>
            <a:off x="843788" y="6858000"/>
            <a:ext cx="4036568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Marginal likelihood </a:t>
            </a:r>
            <a:r>
              <a:rPr lang="en-US" sz="2800" b="1" dirty="0">
                <a:solidFill>
                  <a:sysClr val="windowText" lastClr="000000"/>
                </a:solidFill>
              </a:rPr>
              <a:t>p(y)</a:t>
            </a:r>
            <a:r>
              <a:rPr lang="en-US" sz="2800" dirty="0">
                <a:solidFill>
                  <a:sysClr val="windowText" lastClr="000000"/>
                </a:solidFill>
              </a:rPr>
              <a:t> is</a:t>
            </a:r>
          </a:p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often intractable.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C1DDCFD-5143-A7BE-F529-1E29B3086164}"/>
                  </a:ext>
                </a:extLst>
              </p:cNvPr>
              <p:cNvSpPr/>
              <p:nvPr/>
            </p:nvSpPr>
            <p:spPr>
              <a:xfrm>
                <a:off x="6109716" y="6858000"/>
                <a:ext cx="4036568" cy="1143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ysClr val="windowText" lastClr="000000"/>
                    </a:solidFill>
                  </a:rPr>
                  <a:t>A family of tractable proxy distributions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US" sz="2800" dirty="0">
                    <a:solidFill>
                      <a:sysClr val="windowText" lastClr="000000"/>
                    </a:solidFill>
                  </a:rPr>
                  <a:t>parameterized by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𝜻</m:t>
                    </m:r>
                  </m:oMath>
                </a14:m>
                <a:r>
                  <a:rPr lang="en-US" sz="2800" dirty="0">
                    <a:solidFill>
                      <a:sysClr val="windowText" lastClr="0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C1DDCFD-5143-A7BE-F529-1E29B3086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716" y="6858000"/>
                <a:ext cx="4036568" cy="1143000"/>
              </a:xfrm>
              <a:prstGeom prst="rect">
                <a:avLst/>
              </a:prstGeom>
              <a:blipFill>
                <a:blip r:embed="rId7"/>
                <a:stretch>
                  <a:fillRect l="-2194" t="-15385" r="-4389" b="-230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FDE0FBD-8577-9A48-1299-5F70270CCD13}"/>
                  </a:ext>
                </a:extLst>
              </p:cNvPr>
              <p:cNvSpPr/>
              <p:nvPr/>
            </p:nvSpPr>
            <p:spPr>
              <a:xfrm>
                <a:off x="11309794" y="6130187"/>
                <a:ext cx="4036568" cy="20634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ysClr val="windowText" lastClr="000000"/>
                    </a:solidFill>
                  </a:rPr>
                  <a:t>Minimize the Kullback-Leibler (KL) Divergence to force the proxy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ysClr val="windowText" lastClr="000000"/>
                    </a:solidFill>
                  </a:rPr>
                  <a:t> to match the true posterior.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FDE0FBD-8577-9A48-1299-5F70270CCD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9794" y="6130187"/>
                <a:ext cx="4036568" cy="2063496"/>
              </a:xfrm>
              <a:prstGeom prst="rect">
                <a:avLst/>
              </a:prstGeom>
              <a:blipFill>
                <a:blip r:embed="rId8"/>
                <a:stretch>
                  <a:fillRect l="-940" r="-2821" b="-12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411480" y="8366760"/>
            <a:ext cx="15453359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8366760"/>
            <a:ext cx="1527048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2A6F8A"/>
                </a:solidFill>
              </a:rPr>
              <a:t>In plain English: </a:t>
            </a:r>
            <a:r>
              <a:rPr sz="1900" b="0">
                <a:solidFill>
                  <a:srgbClr val="000000"/>
                </a:solidFill>
              </a:rPr>
              <a:t>instead of exploring every possible answer, VI fits the closest simple bell curve, like tuning a dial until the fit stops improving.</a:t>
            </a:r>
          </a:p>
        </p:txBody>
      </p:sp>
    </p:spTree>
    <p:extLst>
      <p:ext uri="{BB962C8B-B14F-4D97-AF65-F5344CB8AC3E}">
        <p14:creationId xmlns:p14="http://schemas.microsoft.com/office/powerpoint/2010/main" val="280910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8FFA62E-F603-0DBF-2ACD-F0DA3378A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8" y="1478722"/>
            <a:ext cx="15821665" cy="500660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B7288A-5D22-0B23-972B-320BDE1589C7}"/>
              </a:ext>
            </a:extLst>
          </p:cNvPr>
          <p:cNvSpPr/>
          <p:nvPr/>
        </p:nvSpPr>
        <p:spPr>
          <a:xfrm>
            <a:off x="381643" y="1556540"/>
            <a:ext cx="4839592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ysClr val="windowText" lastClr="000000"/>
                </a:solidFill>
              </a:rPr>
              <a:t>The Expected Log-Likelihood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3C32EF-0219-B8AF-2B7B-8F4EA16594F7}"/>
              </a:ext>
            </a:extLst>
          </p:cNvPr>
          <p:cNvSpPr/>
          <p:nvPr/>
        </p:nvSpPr>
        <p:spPr>
          <a:xfrm>
            <a:off x="232915" y="6506780"/>
            <a:ext cx="5137047" cy="2560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Maximizes the model’s fit to the empirical financial data.</a:t>
            </a:r>
          </a:p>
          <a:p>
            <a:pPr algn="ctr"/>
            <a:endParaRPr lang="en-US" sz="32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Averaged over random guesses.</a:t>
            </a:r>
          </a:p>
          <a:p>
            <a:pPr algn="ctr"/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95330-1F4F-3E4C-4C61-A9274C25A7C5}"/>
              </a:ext>
            </a:extLst>
          </p:cNvPr>
          <p:cNvSpPr/>
          <p:nvPr/>
        </p:nvSpPr>
        <p:spPr>
          <a:xfrm>
            <a:off x="11467236" y="5803764"/>
            <a:ext cx="359496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i="1" dirty="0">
                <a:solidFill>
                  <a:sysClr val="windowText" lastClr="000000"/>
                </a:solidFill>
              </a:rPr>
              <a:t>The KL 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1233D5D-2246-1403-7CE0-246AE993C4EE}"/>
                  </a:ext>
                </a:extLst>
              </p:cNvPr>
              <p:cNvSpPr/>
              <p:nvPr/>
            </p:nvSpPr>
            <p:spPr>
              <a:xfrm>
                <a:off x="11285449" y="6709694"/>
                <a:ext cx="4970551" cy="16878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3200" dirty="0">
                    <a:solidFill>
                      <a:sysClr val="windowText" lastClr="000000"/>
                    </a:solidFill>
                  </a:rPr>
                  <a:t>Penalizes the variational distribution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32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32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>
                    <a:solidFill>
                      <a:sysClr val="windowText" lastClr="000000"/>
                    </a:solidFill>
                  </a:rPr>
                  <a:t> for deviating too far from standard prior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3200" b="1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3200" b="1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solidFill>
                      <a:sysClr val="windowText" lastClr="000000"/>
                    </a:solidFill>
                  </a:rPr>
                  <a:t>.</a:t>
                </a:r>
                <a:r>
                  <a:rPr lang="en-US" sz="3200" dirty="0">
                    <a:solidFill>
                      <a:sysClr val="windowText" lastClr="000000"/>
                    </a:solidFill>
                  </a:rPr>
                  <a:t> Acts as a natural </a:t>
                </a:r>
                <a:r>
                  <a:rPr lang="en-US" sz="3200" dirty="0" err="1">
                    <a:solidFill>
                      <a:sysClr val="windowText" lastClr="000000"/>
                    </a:solidFill>
                  </a:rPr>
                  <a:t>regularizer</a:t>
                </a:r>
                <a:endParaRPr lang="en-US" sz="32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1233D5D-2246-1403-7CE0-246AE993C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5449" y="6709694"/>
                <a:ext cx="4970551" cy="1687847"/>
              </a:xfrm>
              <a:prstGeom prst="rect">
                <a:avLst/>
              </a:prstGeom>
              <a:blipFill>
                <a:blip r:embed="rId4"/>
                <a:stretch>
                  <a:fillRect l="-3053" t="-29104" r="-1781" b="-358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4C7FE39-5E61-45C0-1FD1-D6A908782672}"/>
              </a:ext>
            </a:extLst>
          </p:cNvPr>
          <p:cNvSpPr/>
          <p:nvPr/>
        </p:nvSpPr>
        <p:spPr>
          <a:xfrm>
            <a:off x="850900" y="-8845"/>
            <a:ext cx="14554200" cy="15873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5000" b="1" dirty="0">
                <a:solidFill>
                  <a:sysClr val="windowText" lastClr="000000"/>
                </a:solidFill>
              </a:rPr>
              <a:t>The Evidence Lower Bound (ELBO) objective balances data fit against prior beliefs</a:t>
            </a:r>
          </a:p>
        </p:txBody>
      </p:sp>
      <p:sp>
        <p:nvSpPr>
          <p:cNvPr id="16" name="AutoShape 2" descr=", AI generated">
            <a:extLst>
              <a:ext uri="{FF2B5EF4-FFF2-40B4-BE49-F238E27FC236}">
                <a16:creationId xmlns:a16="http://schemas.microsoft.com/office/drawing/2014/main" id="{BB2CC707-904E-B852-3F27-934B9460B5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75600" y="441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C33267-E788-4AE0-B0DE-28446C644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8420" y="2554865"/>
            <a:ext cx="5568952" cy="30895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20CF20-D0F2-1085-792E-941478029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28" y="2147443"/>
            <a:ext cx="4497972" cy="4225634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75362341-55CD-D2CD-FA94-8068C6E74BEA}"/>
              </a:ext>
            </a:extLst>
          </p:cNvPr>
          <p:cNvSpPr/>
          <p:nvPr/>
        </p:nvSpPr>
        <p:spPr>
          <a:xfrm>
            <a:off x="4886410" y="1600200"/>
            <a:ext cx="5940611" cy="5940611"/>
          </a:xfrm>
          <a:prstGeom prst="ellipse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03CE0A-B5DF-4B30-11CA-D514561B601D}"/>
                  </a:ext>
                </a:extLst>
              </p:cNvPr>
              <p:cNvSpPr txBox="1"/>
              <p:nvPr/>
            </p:nvSpPr>
            <p:spPr>
              <a:xfrm>
                <a:off x="4752071" y="3241662"/>
                <a:ext cx="6209287" cy="2199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𝐸𝐿𝐵𝑂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𝑑𝑎𝑡𝑎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| 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4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– </m:t>
                      </m:r>
                      <m:r>
                        <m:rPr>
                          <m:sty m:val="p"/>
                        </m:rP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KL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|| 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03CE0A-B5DF-4B30-11CA-D514561B6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071" y="3241662"/>
                <a:ext cx="6209287" cy="2199000"/>
              </a:xfrm>
              <a:prstGeom prst="rect">
                <a:avLst/>
              </a:prstGeom>
              <a:blipFill>
                <a:blip r:embed="rId7"/>
                <a:stretch>
                  <a:fillRect t="-2299" r="-408"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Paper transforms map unconstrained VI parameters into a valid, stationary GARCH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783080"/>
            <a:ext cx="3566160" cy="5577840"/>
          </a:xfrm>
          <a:prstGeom prst="rect">
            <a:avLst/>
          </a:prstGeom>
          <a:solidFill>
            <a:srgbClr val="FFFFFF"/>
          </a:solidFill>
          <a:ln w="28575">
            <a:solidFill>
              <a:srgbClr val="2A6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474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</a:rPr>
              <a:t>Unconstrained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34747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</a:rPr>
              <a:t>θ = (θω, θα, θβ) ∈ ℝ³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0"/>
            <a:ext cx="3383280" cy="3291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The Gaussian posterior q(θ) = N(μ, Σ) lives here.</a:t>
            </a:r>
          </a:p>
          <a:p>
            <a:pPr algn="ctr"/>
            <a:endParaRPr sz="2200" b="0">
              <a:solidFill>
                <a:srgbClr val="000000"/>
              </a:solidFill>
            </a:endParaRPr>
          </a:p>
          <a:p>
            <a:pPr algn="ctr"/>
            <a:r>
              <a:rPr sz="2200" b="0">
                <a:solidFill>
                  <a:srgbClr val="000000"/>
                </a:solidFill>
              </a:rPr>
              <a:t>Prior p(θ) = N(0, I), as in the paper.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783080"/>
            <a:ext cx="6583680" cy="5577840"/>
          </a:xfrm>
          <a:prstGeom prst="rect">
            <a:avLst/>
          </a:prstGeom>
          <a:solidFill>
            <a:srgbClr val="FFFFFF"/>
          </a:solidFill>
          <a:ln w="28575">
            <a:solidFill>
              <a:srgbClr val="2A6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64922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</a:rPr>
              <a:t>The Transform (Prop. 2 in the paper)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880360"/>
            <a:ext cx="8229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</a:rPr>
              <a:t>θω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3200400"/>
            <a:ext cx="1554481" cy="0"/>
          </a:xfrm>
          <a:prstGeom prst="line">
            <a:avLst/>
          </a:prstGeom>
          <a:ln w="31750">
            <a:solidFill>
              <a:srgbClr val="2A6F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577840" y="2880360"/>
            <a:ext cx="4572000" cy="640080"/>
          </a:xfrm>
          <a:prstGeom prst="rect">
            <a:avLst/>
          </a:prstGeom>
          <a:solidFill>
            <a:srgbClr val="E4F3F7"/>
          </a:solidFill>
          <a:ln w="2857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2880360"/>
            <a:ext cx="457200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</a:rPr>
              <a:t>ω = exp(θω)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520439"/>
            <a:ext cx="45720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0">
                <a:solidFill>
                  <a:srgbClr val="2A6F8A"/>
                </a:solidFill>
              </a:rPr>
              <a:t>torch.exp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49840" y="3200400"/>
            <a:ext cx="1600200" cy="0"/>
          </a:xfrm>
          <a:prstGeom prst="line">
            <a:avLst/>
          </a:prstGeom>
          <a:ln w="31750">
            <a:solidFill>
              <a:srgbClr val="2A6F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09160" y="4206240"/>
            <a:ext cx="8229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</a:rPr>
              <a:t>θα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4526279"/>
            <a:ext cx="1554481" cy="0"/>
          </a:xfrm>
          <a:prstGeom prst="line">
            <a:avLst/>
          </a:prstGeom>
          <a:ln w="31750">
            <a:solidFill>
              <a:srgbClr val="2A6F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577840" y="4206240"/>
            <a:ext cx="4572000" cy="640080"/>
          </a:xfrm>
          <a:prstGeom prst="rect">
            <a:avLst/>
          </a:prstGeom>
          <a:solidFill>
            <a:srgbClr val="E4F3F7"/>
          </a:solidFill>
          <a:ln w="2857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4206240"/>
            <a:ext cx="457200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</a:rPr>
              <a:t>α = sigmoid(θα)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846320"/>
            <a:ext cx="45720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0">
                <a:solidFill>
                  <a:srgbClr val="2A6F8A"/>
                </a:solidFill>
              </a:rPr>
              <a:t>torch.sigmoid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49840" y="4526279"/>
            <a:ext cx="1600200" cy="0"/>
          </a:xfrm>
          <a:prstGeom prst="line">
            <a:avLst/>
          </a:prstGeom>
          <a:ln w="31750">
            <a:solidFill>
              <a:srgbClr val="2A6F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09160" y="5532120"/>
            <a:ext cx="8229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</a:rPr>
              <a:t>θβ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7639" y="5852159"/>
            <a:ext cx="1554481" cy="0"/>
          </a:xfrm>
          <a:prstGeom prst="line">
            <a:avLst/>
          </a:prstGeom>
          <a:ln w="31750">
            <a:solidFill>
              <a:srgbClr val="2A6F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577840" y="5532120"/>
            <a:ext cx="4572000" cy="640080"/>
          </a:xfrm>
          <a:prstGeom prst="rect">
            <a:avLst/>
          </a:prstGeom>
          <a:solidFill>
            <a:srgbClr val="E4F3F7"/>
          </a:solidFill>
          <a:ln w="2857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77840" y="5532120"/>
            <a:ext cx="457200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</a:rPr>
              <a:t>β = sigmoid(θβ) · (1 − 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6172200"/>
            <a:ext cx="45720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0">
                <a:solidFill>
                  <a:srgbClr val="2A6F8A"/>
                </a:solidFill>
              </a:rPr>
              <a:t>torch.sigmoid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49840" y="5852159"/>
            <a:ext cx="1600200" cy="0"/>
          </a:xfrm>
          <a:prstGeom prst="line">
            <a:avLst/>
          </a:prstGeom>
          <a:ln w="31750">
            <a:solidFill>
              <a:srgbClr val="2A6F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750040" y="1783080"/>
            <a:ext cx="4114800" cy="5577840"/>
          </a:xfrm>
          <a:prstGeom prst="rect">
            <a:avLst/>
          </a:prstGeom>
          <a:solidFill>
            <a:srgbClr val="FFFFFF"/>
          </a:solidFill>
          <a:ln w="28575">
            <a:solidFill>
              <a:srgbClr val="2A6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95760" y="1828800"/>
            <a:ext cx="402336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</a:rPr>
              <a:t>Constrained GARCH 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0" y="2743200"/>
            <a:ext cx="3931920" cy="2560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</a:rPr>
              <a:t>•  ω &gt; 0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    (baseline variance)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•  α ≥ 0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    (reaction to shocks)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•  β ≥ 0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    (volatility persistence)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932920" y="5623560"/>
            <a:ext cx="3749039" cy="1554480"/>
          </a:xfrm>
          <a:prstGeom prst="rect">
            <a:avLst/>
          </a:prstGeom>
          <a:solidFill>
            <a:srgbClr val="E4F3F7"/>
          </a:solidFill>
          <a:ln w="2857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932920" y="5623560"/>
            <a:ext cx="3749039" cy="1554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α + β &lt; 1 for every θ</a:t>
            </a:r>
          </a:p>
          <a:p>
            <a:pPr algn="ctr"/>
            <a:r>
              <a:rPr sz="1900" b="0">
                <a:solidFill>
                  <a:srgbClr val="000000"/>
                </a:solidFill>
              </a:rPr>
              <a:t>stationary by construction:</a:t>
            </a:r>
          </a:p>
          <a:p>
            <a:pPr algn="ctr"/>
            <a:r>
              <a:rPr sz="1900" b="0">
                <a:solidFill>
                  <a:srgbClr val="000000"/>
                </a:solidFill>
              </a:rPr>
              <a:t>no if-statement, no rescaling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7680960"/>
            <a:ext cx="15453359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7680960"/>
            <a:ext cx="1527048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2A6F8A"/>
                </a:solidFill>
              </a:rPr>
              <a:t>In plain English: </a:t>
            </a:r>
            <a:r>
              <a:rPr sz="1900" b="0">
                <a:solidFill>
                  <a:srgbClr val="000000"/>
                </a:solidFill>
              </a:rPr>
              <a:t>the three dials get built-in guardrails, so the model can never produce an impossible forecast (negative or exploding volatility).</a:t>
            </a:r>
          </a:p>
          <a:p>
            <a:pPr algn="ctr"/>
            <a:r>
              <a:rPr sz="1900" b="1">
                <a:solidFill>
                  <a:srgbClr val="000000"/>
                </a:solidFill>
              </a:rPr>
              <a:t>Fix vs. first draft: </a:t>
            </a:r>
            <a:r>
              <a:rPr sz="1900" b="0">
                <a:solidFill>
                  <a:srgbClr val="000000"/>
                </a:solidFill>
              </a:rPr>
              <a:t>replaces the old “if α + β ≥ 0.99, rescale” rule, which was not smooth and not the paper’s method.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3AA3A-B628-E3A4-9A48-DBCB64C1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C7E828-B4A0-002B-322A-96F787E3BF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143000"/>
            <a:ext cx="12420600" cy="77182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CA28FA-C07B-7C7D-7028-06E72915252D}"/>
              </a:ext>
            </a:extLst>
          </p:cNvPr>
          <p:cNvCxnSpPr>
            <a:cxnSpLocks/>
          </p:cNvCxnSpPr>
          <p:nvPr/>
        </p:nvCxnSpPr>
        <p:spPr>
          <a:xfrm>
            <a:off x="12852400" y="1066800"/>
            <a:ext cx="0" cy="77944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52DBD05-2218-E418-16AE-D708881F9AE1}"/>
              </a:ext>
            </a:extLst>
          </p:cNvPr>
          <p:cNvSpPr/>
          <p:nvPr/>
        </p:nvSpPr>
        <p:spPr>
          <a:xfrm>
            <a:off x="355603" y="-31101"/>
            <a:ext cx="15544793" cy="86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ysClr val="windowText" lastClr="000000"/>
                </a:solidFill>
              </a:rPr>
              <a:t>The VI training loop: sample, score, update in </a:t>
            </a:r>
            <a:r>
              <a:rPr lang="en-US" sz="4400" b="1" dirty="0" err="1">
                <a:solidFill>
                  <a:sysClr val="windowText" lastClr="000000"/>
                </a:solidFill>
              </a:rPr>
              <a:t>PyTorch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4C712F-AA39-E684-B778-06AF71E1A723}"/>
              </a:ext>
            </a:extLst>
          </p:cNvPr>
          <p:cNvSpPr/>
          <p:nvPr/>
        </p:nvSpPr>
        <p:spPr>
          <a:xfrm>
            <a:off x="3403599" y="7393937"/>
            <a:ext cx="3884614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195737-99AF-D1C3-5CD9-5133165E31DF}"/>
              </a:ext>
            </a:extLst>
          </p:cNvPr>
          <p:cNvSpPr/>
          <p:nvPr/>
        </p:nvSpPr>
        <p:spPr>
          <a:xfrm>
            <a:off x="8257818" y="3919933"/>
            <a:ext cx="4254553" cy="756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600" dirty="0">
                <a:solidFill>
                  <a:schemeClr val="tx1"/>
                </a:solidFill>
              </a:rPr>
              <a:t>Compute GARCH Likelihood over MC samples.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C00EA5-8EFB-B40E-9022-1EB5859063D3}"/>
              </a:ext>
            </a:extLst>
          </p:cNvPr>
          <p:cNvSpPr/>
          <p:nvPr/>
        </p:nvSpPr>
        <p:spPr>
          <a:xfrm>
            <a:off x="8439192" y="5633757"/>
            <a:ext cx="3617167" cy="2753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C811325-BC58-2F54-2C1F-2F6790F46B2F}"/>
                  </a:ext>
                </a:extLst>
              </p:cNvPr>
              <p:cNvSpPr/>
              <p:nvPr/>
            </p:nvSpPr>
            <p:spPr>
              <a:xfrm>
                <a:off x="531393" y="3276537"/>
                <a:ext cx="3617167" cy="543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𝕢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C811325-BC58-2F54-2C1F-2F6790F46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93" y="3276537"/>
                <a:ext cx="3617167" cy="543159"/>
              </a:xfrm>
              <a:prstGeom prst="rect">
                <a:avLst/>
              </a:prstGeom>
              <a:blipFill>
                <a:blip r:embed="rId4"/>
                <a:stretch>
                  <a:fillRect b="-204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16E19BDC-0E9F-9FC5-2789-1EF3D7CF5F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86" y="1699029"/>
            <a:ext cx="3865982" cy="16780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842C157-CB62-2911-1A56-84E284B40B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630" y="2052930"/>
            <a:ext cx="4114799" cy="191251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50DB584-4E47-4C5B-6509-783FDE3C06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04" y="6163537"/>
            <a:ext cx="3926295" cy="195347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12FA6D9-FA0B-C3B6-8DE4-7AE7333DC6E9}"/>
              </a:ext>
            </a:extLst>
          </p:cNvPr>
          <p:cNvSpPr/>
          <p:nvPr/>
        </p:nvSpPr>
        <p:spPr>
          <a:xfrm>
            <a:off x="579014" y="1343887"/>
            <a:ext cx="3617167" cy="40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1. Sample Parameters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292AEE-7DB3-4ED2-3699-6D9AE692AC13}"/>
              </a:ext>
            </a:extLst>
          </p:cNvPr>
          <p:cNvSpPr/>
          <p:nvPr/>
        </p:nvSpPr>
        <p:spPr>
          <a:xfrm>
            <a:off x="579014" y="4286814"/>
            <a:ext cx="3617167" cy="575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5. Update Parameters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1FC5C9-73B2-BCB1-2375-E964E4EF6E64}"/>
              </a:ext>
            </a:extLst>
          </p:cNvPr>
          <p:cNvSpPr/>
          <p:nvPr/>
        </p:nvSpPr>
        <p:spPr>
          <a:xfrm>
            <a:off x="8488377" y="5611027"/>
            <a:ext cx="4114800" cy="575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3. Compute KL Divergence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753B16-CA1A-709F-EE59-D1FD1E55F32A}"/>
              </a:ext>
            </a:extLst>
          </p:cNvPr>
          <p:cNvSpPr/>
          <p:nvPr/>
        </p:nvSpPr>
        <p:spPr>
          <a:xfrm>
            <a:off x="8515229" y="1232805"/>
            <a:ext cx="3657600" cy="8791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2. Calculate Expected Log-Likelihood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EBABC6-219F-D75B-C45E-9ECC956A1A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86" y="4784658"/>
            <a:ext cx="3916114" cy="1334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98730C-090C-9AC2-7AAB-F3DABB066461}"/>
                  </a:ext>
                </a:extLst>
              </p:cNvPr>
              <p:cNvSpPr/>
              <p:nvPr/>
            </p:nvSpPr>
            <p:spPr>
              <a:xfrm>
                <a:off x="1227782" y="6046905"/>
                <a:ext cx="2168589" cy="543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Update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98730C-090C-9AC2-7AAB-F3DABB066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782" y="6046905"/>
                <a:ext cx="2168589" cy="543159"/>
              </a:xfrm>
              <a:prstGeom prst="rect">
                <a:avLst/>
              </a:prstGeom>
              <a:blipFill>
                <a:blip r:embed="rId9"/>
                <a:stretch>
                  <a:fillRect l="-2907" t="-11628" b="-27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31521BA-8AA4-904D-1BF2-189C7687C8F5}"/>
                  </a:ext>
                </a:extLst>
              </p:cNvPr>
              <p:cNvSpPr/>
              <p:nvPr/>
            </p:nvSpPr>
            <p:spPr>
              <a:xfrm>
                <a:off x="8722912" y="8117014"/>
                <a:ext cx="3617167" cy="543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KL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𝕢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||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31521BA-8AA4-904D-1BF2-189C7687C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2912" y="8117014"/>
                <a:ext cx="3617167" cy="543159"/>
              </a:xfrm>
              <a:prstGeom prst="rect">
                <a:avLst/>
              </a:prstGeom>
              <a:blipFill>
                <a:blip r:embed="rId10"/>
                <a:stretch>
                  <a:fillRect b="-181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68E2A84-6A36-B6B8-BB68-2DD223A52287}"/>
              </a:ext>
            </a:extLst>
          </p:cNvPr>
          <p:cNvSpPr/>
          <p:nvPr/>
        </p:nvSpPr>
        <p:spPr>
          <a:xfrm>
            <a:off x="3073643" y="7496671"/>
            <a:ext cx="4648199" cy="756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 err="1">
                <a:solidFill>
                  <a:schemeClr val="tx1"/>
                </a:solidFill>
              </a:rPr>
              <a:t>loss.backward</a:t>
            </a:r>
            <a:r>
              <a:rPr lang="en-SG" sz="2400" dirty="0">
                <a:solidFill>
                  <a:schemeClr val="tx1"/>
                </a:solidFill>
              </a:rPr>
              <a:t>() → Adam step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58A1EA-15B3-1F1F-0C88-3866F050DBD4}"/>
              </a:ext>
            </a:extLst>
          </p:cNvPr>
          <p:cNvSpPr/>
          <p:nvPr/>
        </p:nvSpPr>
        <p:spPr>
          <a:xfrm>
            <a:off x="3263155" y="7120959"/>
            <a:ext cx="4347235" cy="575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4. Backpropagate ELBO Loss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53A830-9ED7-E06D-E58F-63151F3C9E86}"/>
              </a:ext>
            </a:extLst>
          </p:cNvPr>
          <p:cNvSpPr/>
          <p:nvPr/>
        </p:nvSpPr>
        <p:spPr>
          <a:xfrm>
            <a:off x="5148255" y="8170185"/>
            <a:ext cx="2555102" cy="216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000" b="1" dirty="0">
                <a:solidFill>
                  <a:srgbClr val="4FC7D8"/>
                </a:solidFill>
              </a:rPr>
              <a:t>Autodiff gradients</a:t>
            </a:r>
            <a:endParaRPr lang="en-US" sz="2000" b="1" dirty="0">
              <a:solidFill>
                <a:srgbClr val="4FC7D8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26C1B06-30FC-987E-AFA2-52CAEB5EC613}"/>
                  </a:ext>
                </a:extLst>
              </p:cNvPr>
              <p:cNvSpPr txBox="1"/>
              <p:nvPr/>
            </p:nvSpPr>
            <p:spPr>
              <a:xfrm>
                <a:off x="4655240" y="5144139"/>
                <a:ext cx="342527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𝐸𝐿𝐵𝑂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𝑑𝑎𝑡𝑎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|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– 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KL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||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26C1B06-30FC-987E-AFA2-52CAEB5EC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240" y="5144139"/>
                <a:ext cx="3425277" cy="615553"/>
              </a:xfrm>
              <a:prstGeom prst="rect">
                <a:avLst/>
              </a:prstGeom>
              <a:blipFill>
                <a:blip r:embed="rId11"/>
                <a:stretch>
                  <a:fillRect t="-4082" b="-18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D5251BCE-A62E-D5E1-E78E-06358BB3A8BD}"/>
              </a:ext>
            </a:extLst>
          </p:cNvPr>
          <p:cNvSpPr/>
          <p:nvPr/>
        </p:nvSpPr>
        <p:spPr>
          <a:xfrm>
            <a:off x="5333617" y="4015240"/>
            <a:ext cx="2089958" cy="840886"/>
          </a:xfrm>
          <a:prstGeom prst="rect">
            <a:avLst/>
          </a:prstGeom>
          <a:solidFill>
            <a:srgbClr val="F3F3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The ELBO Objective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74552" y="3310128"/>
            <a:ext cx="1234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228832" y="3291840"/>
            <a:ext cx="1325880" cy="6035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S = 10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samples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38760" y="1188720"/>
            <a:ext cx="3291840" cy="7772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100" b="1">
                <a:solidFill>
                  <a:srgbClr val="2A6F8A"/>
                </a:solidFill>
              </a:rPr>
              <a:t>In plain English</a:t>
            </a:r>
          </a:p>
          <a:p>
            <a:pPr algn="l"/>
            <a:r>
              <a:rPr sz="2100" b="0">
                <a:solidFill>
                  <a:srgbClr val="000000"/>
                </a:solidFill>
              </a:rPr>
              <a:t>Guess the dials, score the fit, nudge the guess, repeat about 1,500 times until the score stops improving.</a:t>
            </a:r>
          </a:p>
          <a:p>
            <a:pPr algn="l"/>
            <a:endParaRPr sz="2100" b="0">
              <a:solidFill>
                <a:srgbClr val="000000"/>
              </a:solidFill>
            </a:endParaRPr>
          </a:p>
          <a:p>
            <a:pPr algn="l"/>
            <a:r>
              <a:rPr sz="2100" b="1">
                <a:solidFill>
                  <a:srgbClr val="000000"/>
                </a:solidFill>
              </a:rPr>
              <a:t>Two versions</a:t>
            </a:r>
          </a:p>
          <a:p>
            <a:pPr algn="l"/>
            <a:r>
              <a:rPr sz="2100" b="1">
                <a:solidFill>
                  <a:srgbClr val="D08F27"/>
                </a:solidFill>
              </a:rPr>
              <a:t>BBVI</a:t>
            </a:r>
            <a:r>
              <a:rPr sz="2100" b="0">
                <a:solidFill>
                  <a:srgbClr val="000000"/>
                </a:solidFill>
              </a:rPr>
              <a:t> (paper): needs only fit scores; assumes the dials are unrelated.</a:t>
            </a:r>
          </a:p>
          <a:p>
            <a:pPr algn="l"/>
            <a:r>
              <a:rPr sz="2100" b="1">
                <a:solidFill>
                  <a:srgbClr val="2A6F8A"/>
                </a:solidFill>
              </a:rPr>
              <a:t>Full-cov VI</a:t>
            </a:r>
            <a:r>
              <a:rPr sz="2100" b="0">
                <a:solidFill>
                  <a:srgbClr val="000000"/>
                </a:solidFill>
              </a:rPr>
              <a:t>: PyTorch does the calculus; captures how the dials move together.</a:t>
            </a:r>
          </a:p>
        </p:txBody>
      </p:sp>
    </p:spTree>
    <p:extLst>
      <p:ext uri="{BB962C8B-B14F-4D97-AF65-F5344CB8AC3E}">
        <p14:creationId xmlns:p14="http://schemas.microsoft.com/office/powerpoint/2010/main" val="49682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</a:rPr>
              <a:t>Data pipeline: the paper’s Microsoft case study, cleaned and split in time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132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</a:rPr>
              <a:t>Data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40280"/>
          <a:ext cx="73152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000000"/>
                          </a:solidFill>
                        </a:rPr>
                        <a:t>Source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</a:rPr>
                        <a:t>Yahoo Finance (yfinance), adjusted close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000000"/>
                          </a:solidFill>
                        </a:rPr>
                        <a:t>Asset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</a:rPr>
                        <a:t>Microsoft (MSFT), as in the paper; plus a Dow 30 panel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000000"/>
                          </a:solidFill>
                        </a:rPr>
                        <a:t>Window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</a:rPr>
                        <a:t>2 Jan 2018 – 30 Jun 2023: 1,383 days → 1,382 returns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000000"/>
                          </a:solidFill>
                        </a:rPr>
                        <a:t>Cleaning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</a:rPr>
                        <a:t>0 missing, 0 duplicates, 0 non-positive prices; longest gap 4 days (holidays)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897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000000"/>
                          </a:solidFill>
                        </a:rPr>
                        <a:t>Returns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</a:rPr>
                        <a:t>Daily % change: rₜ = 100 · (log Pₜ − log Pₜ₋₁)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989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000000"/>
                          </a:solidFill>
                        </a:rPr>
                        <a:t>Split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</a:rPr>
                        <a:t>Learn on first 75% (to 11 Feb 2022); test on last 25% (the “exam”)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8183879" y="1600200"/>
            <a:ext cx="0" cy="7178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503920" y="1554480"/>
            <a:ext cx="731520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</a:rPr>
              <a:t>Prices and Returns</a:t>
            </a:r>
          </a:p>
        </p:txBody>
      </p:sp>
      <p:pic>
        <p:nvPicPr>
          <p:cNvPr id="7" name="Picture 6" descr="01_price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360612"/>
            <a:ext cx="7498079" cy="40570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03920" y="6858000"/>
            <a:ext cx="7315200" cy="1737360"/>
          </a:xfrm>
          <a:prstGeom prst="rect">
            <a:avLst/>
          </a:prstGeom>
          <a:solidFill>
            <a:srgbClr val="FFFFFF"/>
          </a:solidFill>
          <a:ln w="28575">
            <a:solidFill>
              <a:srgbClr val="2A6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6858000"/>
            <a:ext cx="7132320" cy="1737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2A6F8A"/>
                </a:solidFill>
              </a:rPr>
              <a:t>Takeaway: </a:t>
            </a:r>
            <a:r>
              <a:rPr sz="2000" b="0">
                <a:solidFill>
                  <a:srgbClr val="2A6F8A"/>
                </a:solidFill>
              </a:rPr>
              <a:t>the test period (2022 rate hikes) is more volatile than most of the training period, so it is a genuine out-of-sample challenge.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</a:rPr>
              <a:t>Exploratory analysis: MSFT returns show the stylised facts GARCH is built for</a:t>
            </a:r>
          </a:p>
        </p:txBody>
      </p:sp>
      <p:pic>
        <p:nvPicPr>
          <p:cNvPr id="3" name="Picture 2" descr="02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8794"/>
            <a:ext cx="9692640" cy="3457530"/>
          </a:xfrm>
          <a:prstGeom prst="rect">
            <a:avLst/>
          </a:prstGeom>
        </p:spPr>
      </p:pic>
      <p:pic>
        <p:nvPicPr>
          <p:cNvPr id="4" name="Picture 3" descr="03_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257086"/>
            <a:ext cx="9692640" cy="30189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378440" y="1645920"/>
            <a:ext cx="5486400" cy="6675120"/>
          </a:xfrm>
          <a:prstGeom prst="rect">
            <a:avLst/>
          </a:prstGeom>
          <a:solidFill>
            <a:srgbClr val="FFFFFF"/>
          </a:solidFill>
          <a:ln w="28575">
            <a:solidFill>
              <a:srgbClr val="D08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1737360"/>
            <a:ext cx="5212080" cy="6492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900" b="1">
                <a:solidFill>
                  <a:srgbClr val="D08F27"/>
                </a:solidFill>
              </a:rPr>
              <a:t>Fat tails</a:t>
            </a:r>
          </a:p>
          <a:p>
            <a:pPr algn="l"/>
            <a:r>
              <a:rPr sz="1900" b="0">
                <a:solidFill>
                  <a:srgbClr val="000000"/>
                </a:solidFill>
              </a:rPr>
              <a:t>Extreme days are far more common than a bell curve predicts (excess kurtosis 9.5; Jarque-Bera p &lt; 0.001)</a:t>
            </a:r>
          </a:p>
          <a:p>
            <a:pPr algn="l"/>
            <a:endParaRPr sz="1900" b="0">
              <a:solidFill>
                <a:srgbClr val="000000"/>
              </a:solidFill>
            </a:endParaRPr>
          </a:p>
          <a:p>
            <a:pPr algn="l"/>
            <a:r>
              <a:rPr sz="1900" b="1">
                <a:solidFill>
                  <a:srgbClr val="D08F27"/>
                </a:solidFill>
              </a:rPr>
              <a:t>Volatility clustering</a:t>
            </a:r>
          </a:p>
          <a:p>
            <a:pPr algn="l"/>
            <a:r>
              <a:rPr sz="1900" b="0">
                <a:solidFill>
                  <a:srgbClr val="000000"/>
                </a:solidFill>
              </a:rPr>
              <a:t>Stormy days follow stormy days (Ljung-Box on r²: 890, p &lt; 0.001)</a:t>
            </a:r>
          </a:p>
          <a:p>
            <a:pPr algn="l"/>
            <a:endParaRPr sz="1900" b="0">
              <a:solidFill>
                <a:srgbClr val="000000"/>
              </a:solidFill>
            </a:endParaRPr>
          </a:p>
          <a:p>
            <a:pPr algn="l"/>
            <a:r>
              <a:rPr sz="1900" b="1">
                <a:solidFill>
                  <a:srgbClr val="D08F27"/>
                </a:solidFill>
              </a:rPr>
              <a:t>Predictable turbulence</a:t>
            </a:r>
          </a:p>
          <a:p>
            <a:pPr algn="l"/>
            <a:r>
              <a:rPr sz="1900" b="0">
                <a:solidFill>
                  <a:srgbClr val="000000"/>
                </a:solidFill>
              </a:rPr>
              <a:t>Yesterday’s swings predict today’s (ARCH-LM: 393, p &lt; 0.001)</a:t>
            </a:r>
          </a:p>
          <a:p>
            <a:pPr algn="l"/>
            <a:endParaRPr sz="1900" b="0">
              <a:solidFill>
                <a:srgbClr val="000000"/>
              </a:solidFill>
            </a:endParaRPr>
          </a:p>
          <a:p>
            <a:pPr algn="l"/>
            <a:r>
              <a:rPr sz="1900" b="1">
                <a:solidFill>
                  <a:srgbClr val="D08F27"/>
                </a:solidFill>
              </a:rPr>
              <a:t>Average return ≈ 0</a:t>
            </a:r>
          </a:p>
          <a:p>
            <a:pPr algn="l"/>
            <a:r>
              <a:rPr sz="1900" b="0">
                <a:solidFill>
                  <a:srgbClr val="000000"/>
                </a:solidFill>
              </a:rPr>
              <a:t>The daily drift (0.12%) is tiny next to the daily swings (1.9%), so we model only the swings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412480"/>
            <a:ext cx="15453359" cy="594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8412480"/>
            <a:ext cx="1527048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2A6F8A"/>
                </a:solidFill>
              </a:rPr>
              <a:t>In plain English: </a:t>
            </a:r>
            <a:r>
              <a:rPr sz="1900" b="0">
                <a:solidFill>
                  <a:srgbClr val="000000"/>
                </a:solidFill>
              </a:rPr>
              <a:t>turbulence comes in waves and crashes are more common than “normal” suggests; GARCH handles the waves, Student-t the crashes.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Our GARCH(1,1) estimates replicate the paper’s Table II for Microsoft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5179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ω (ours)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α (ours)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β (ours)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ω (paper)</a:t>
                      </a:r>
                    </a:p>
                  </a:txBody>
                  <a:tcPr marL="73152" marR="73152" anchor="ctr">
                    <a:solidFill>
                      <a:srgbClr val="D08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α (paper)</a:t>
                      </a:r>
                    </a:p>
                  </a:txBody>
                  <a:tcPr marL="73152" marR="73152" anchor="ctr">
                    <a:solidFill>
                      <a:srgbClr val="D08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β (paper)</a:t>
                      </a:r>
                    </a:p>
                  </a:txBody>
                  <a:tcPr marL="73152" marR="73152" anchor="ctr">
                    <a:solidFill>
                      <a:srgbClr val="D08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QML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0.160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0.186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0.769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0.15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0.19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0.77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MCMC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0.217 ± 0.049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0.203 ± 0.031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0.731 ± 0.036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0.200 ± 0.046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0.203 ± 0.031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0.737 ± 0.036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BBVI (diagonal)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0.214 ± 0.022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0.201 ± 0.023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0.732 ± 0.023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0.196 ± 0.021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0.199 ± 0.023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0.740 ± 0.023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Full-cov VI*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0.220 ± 0.050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0.200 ± 0.029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0.732 ± 0.035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0.205 ± 0.047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0.201 ± 0.030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0.736 ± 0.035</a:t>
                      </a:r>
                    </a:p>
                  </a:txBody>
                  <a:tcPr marL="73152" marR="73152" anchor="ctr">
                    <a:solidFill>
                      <a:srgbClr val="FB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517904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</a:rPr>
              <a:t>ω</a:t>
            </a:r>
            <a:r>
              <a:rPr sz="1500" b="0">
                <a:solidFill>
                  <a:srgbClr val="000000"/>
                </a:solidFill>
              </a:rPr>
              <a:t> = baseline turbulence · </a:t>
            </a:r>
            <a:r>
              <a:rPr sz="1500" b="1">
                <a:solidFill>
                  <a:srgbClr val="000000"/>
                </a:solidFill>
              </a:rPr>
              <a:t>α</a:t>
            </a:r>
            <a:r>
              <a:rPr sz="1500" b="0">
                <a:solidFill>
                  <a:srgbClr val="000000"/>
                </a:solidFill>
              </a:rPr>
              <a:t> = reaction to yesterday’s shock · </a:t>
            </a:r>
            <a:r>
              <a:rPr sz="1500" b="1">
                <a:solidFill>
                  <a:srgbClr val="000000"/>
                </a:solidFill>
              </a:rPr>
              <a:t>β</a:t>
            </a:r>
            <a:r>
              <a:rPr sz="1500" b="0">
                <a:solidFill>
                  <a:srgbClr val="000000"/>
                </a:solidFill>
              </a:rPr>
              <a:t> = memory of past turbulence.  Bayesian columns: average ± spread of plausible values. *Paper column = MGVB, its full-covariance VI.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715000"/>
            <a:ext cx="4846320" cy="2926080"/>
          </a:xfrm>
          <a:prstGeom prst="rect">
            <a:avLst/>
          </a:prstGeom>
          <a:solidFill>
            <a:srgbClr val="FFFFFF"/>
          </a:solidFill>
          <a:ln w="28575">
            <a:solidFill>
              <a:srgbClr val="06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4663440" cy="2743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Replicated</a:t>
            </a:r>
          </a:p>
          <a:p>
            <a:pPr algn="ctr"/>
            <a:endParaRPr sz="2200" b="1">
              <a:solidFill>
                <a:srgbClr val="000000"/>
              </a:solidFill>
            </a:endParaRPr>
          </a:p>
          <a:p>
            <a:pPr algn="ctr"/>
            <a:r>
              <a:rPr sz="2200" b="0">
                <a:solidFill>
                  <a:srgbClr val="000000"/>
                </a:solidFill>
              </a:rPr>
              <a:t>Our numbers match the published paper (all within ≈ 0.02), so the code is doing the right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7568" y="5715000"/>
            <a:ext cx="4846320" cy="2926080"/>
          </a:xfrm>
          <a:prstGeom prst="rect">
            <a:avLst/>
          </a:prstGeom>
          <a:solidFill>
            <a:srgbClr val="FFFFFF"/>
          </a:solidFill>
          <a:ln w="2857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79007" y="5806440"/>
            <a:ext cx="4663440" cy="2743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Persistence</a:t>
            </a:r>
          </a:p>
          <a:p>
            <a:pPr algn="ctr"/>
            <a:endParaRPr sz="2200" b="1">
              <a:solidFill>
                <a:srgbClr val="000000"/>
              </a:solidFill>
            </a:endParaRPr>
          </a:p>
          <a:p>
            <a:pPr algn="ctr"/>
            <a:r>
              <a:rPr sz="2200" b="0">
                <a:solidFill>
                  <a:srgbClr val="000000"/>
                </a:solidFill>
              </a:rPr>
              <a:t>α + β ≈ 0.955: a volatility shock has a half-life of ≈ 15 trading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26496" y="5715000"/>
            <a:ext cx="4846320" cy="2926080"/>
          </a:xfrm>
          <a:prstGeom prst="rect">
            <a:avLst/>
          </a:prstGeom>
          <a:solidFill>
            <a:srgbClr val="FFFFFF"/>
          </a:solidFill>
          <a:ln w="28575">
            <a:solidFill>
              <a:srgbClr val="D08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17936" y="5806440"/>
            <a:ext cx="4663440" cy="2743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Out-of-sample check</a:t>
            </a:r>
          </a:p>
          <a:p>
            <a:pPr algn="ctr"/>
            <a:endParaRPr sz="2200" b="1">
              <a:solidFill>
                <a:srgbClr val="000000"/>
              </a:solidFill>
            </a:endParaRPr>
          </a:p>
          <a:p>
            <a:pPr algn="ctr"/>
            <a:r>
              <a:rPr sz="2200" b="0">
                <a:solidFill>
                  <a:srgbClr val="000000"/>
                </a:solidFill>
              </a:rPr>
              <a:t>Test NLL (QML): 764.6 ours vs 761.4 in the paper.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</a:rPr>
              <a:t>Full VI gets the uncertainty right; the simpler diagonal VI is over-confident</a:t>
            </a:r>
          </a:p>
        </p:txBody>
      </p:sp>
      <p:pic>
        <p:nvPicPr>
          <p:cNvPr id="3" name="Picture 2" descr="06_poste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45" y="1508760"/>
            <a:ext cx="15067628" cy="4343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5943600"/>
            <a:ext cx="4846320" cy="548640"/>
          </a:xfrm>
          <a:prstGeom prst="rect">
            <a:avLst/>
          </a:prstGeom>
          <a:solidFill>
            <a:srgbClr val="06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Spread (uncertainty) of ω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5943600"/>
            <a:ext cx="4846320" cy="548640"/>
          </a:xfrm>
          <a:prstGeom prst="rect">
            <a:avLst/>
          </a:prstGeom>
          <a:solidFill>
            <a:srgbClr val="2A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Spread (uncertainty) of β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81360" y="5943600"/>
            <a:ext cx="4846320" cy="548640"/>
          </a:xfrm>
          <a:prstGeom prst="rect">
            <a:avLst/>
          </a:prstGeom>
          <a:solidFill>
            <a:srgbClr val="D08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Fit score, ELBO (higher = better)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4846320" cy="1508760"/>
          </a:xfrm>
          <a:prstGeom prst="rect">
            <a:avLst/>
          </a:prstGeom>
          <a:solidFill>
            <a:srgbClr val="FFFFFF"/>
          </a:solidFill>
          <a:ln w="28575">
            <a:solidFill>
              <a:srgbClr val="06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4846320" cy="1508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0" dirty="0">
                <a:solidFill>
                  <a:srgbClr val="000000"/>
                </a:solidFill>
              </a:rPr>
              <a:t>MCMC: 0.049</a:t>
            </a:r>
          </a:p>
          <a:p>
            <a:pPr algn="ctr"/>
            <a:r>
              <a:rPr sz="2000" b="0" dirty="0">
                <a:solidFill>
                  <a:srgbClr val="000000"/>
                </a:solidFill>
              </a:rPr>
              <a:t>Full-</a:t>
            </a:r>
            <a:r>
              <a:rPr sz="2000" b="0" dirty="0" err="1">
                <a:solidFill>
                  <a:srgbClr val="000000"/>
                </a:solidFill>
              </a:rPr>
              <a:t>cov</a:t>
            </a:r>
            <a:r>
              <a:rPr sz="2000" b="0" dirty="0">
                <a:solidFill>
                  <a:srgbClr val="000000"/>
                </a:solidFill>
              </a:rPr>
              <a:t> VI: 0.050</a:t>
            </a:r>
          </a:p>
          <a:p>
            <a:pPr algn="ctr"/>
            <a:r>
              <a:rPr sz="2000" b="0" dirty="0">
                <a:solidFill>
                  <a:srgbClr val="000000"/>
                </a:solidFill>
              </a:rPr>
              <a:t>BBVI: 0.022  (−55%)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6492240"/>
            <a:ext cx="4846320" cy="1508760"/>
          </a:xfrm>
          <a:prstGeom prst="rect">
            <a:avLst/>
          </a:prstGeom>
          <a:solidFill>
            <a:srgbClr val="FFFFFF"/>
          </a:solidFill>
          <a:ln w="28575">
            <a:solidFill>
              <a:srgbClr val="2A6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0" y="6492240"/>
            <a:ext cx="4846320" cy="1508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0" dirty="0">
                <a:solidFill>
                  <a:srgbClr val="000000"/>
                </a:solidFill>
              </a:rPr>
              <a:t>MCMC: 0.036</a:t>
            </a:r>
          </a:p>
          <a:p>
            <a:pPr algn="ctr"/>
            <a:r>
              <a:rPr sz="2000" b="0" dirty="0">
                <a:solidFill>
                  <a:srgbClr val="000000"/>
                </a:solidFill>
              </a:rPr>
              <a:t>Full-</a:t>
            </a:r>
            <a:r>
              <a:rPr sz="2000" b="0" dirty="0" err="1">
                <a:solidFill>
                  <a:srgbClr val="000000"/>
                </a:solidFill>
              </a:rPr>
              <a:t>cov</a:t>
            </a:r>
            <a:r>
              <a:rPr sz="2000" b="0" dirty="0">
                <a:solidFill>
                  <a:srgbClr val="000000"/>
                </a:solidFill>
              </a:rPr>
              <a:t> VI: 0.035</a:t>
            </a:r>
          </a:p>
          <a:p>
            <a:pPr algn="ctr"/>
            <a:r>
              <a:rPr sz="2000" b="0" dirty="0">
                <a:solidFill>
                  <a:srgbClr val="000000"/>
                </a:solidFill>
              </a:rPr>
              <a:t>BBVI: 0.023  (−35%)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92240"/>
            <a:ext cx="4846320" cy="1508760"/>
          </a:xfrm>
          <a:prstGeom prst="rect">
            <a:avLst/>
          </a:prstGeom>
          <a:solidFill>
            <a:srgbClr val="FFFFFF"/>
          </a:solidFill>
          <a:ln w="28575">
            <a:solidFill>
              <a:srgbClr val="D08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4846320" cy="1508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Full-cov VI: −1945.3</a:t>
            </a:r>
          </a:p>
          <a:p>
            <a:pPr algn="ctr"/>
            <a:r>
              <a:rPr sz="2000" b="0">
                <a:solidFill>
                  <a:srgbClr val="000000"/>
                </a:solidFill>
              </a:rPr>
              <a:t>BBVI: −1946.2</a:t>
            </a:r>
          </a:p>
          <a:p>
            <a:pPr algn="ctr"/>
            <a:r>
              <a:rPr sz="2000" b="0">
                <a:solidFill>
                  <a:srgbClr val="000000"/>
                </a:solidFill>
              </a:rPr>
              <a:t>Same ordering as the 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8183879"/>
            <a:ext cx="15453359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8183879"/>
            <a:ext cx="1527048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2A6F8A"/>
                </a:solidFill>
              </a:rPr>
              <a:t>In plain English: </a:t>
            </a:r>
            <a:r>
              <a:rPr sz="1900" b="0">
                <a:solidFill>
                  <a:srgbClr val="000000"/>
                </a:solidFill>
              </a:rPr>
              <a:t>all methods agree on the best guess, but simple VI claims to be about twice as sure as it should be, like a forecaster who never says “maybe”.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Bayesian estimation turns volatility into a forecast with credible bands</a:t>
            </a:r>
          </a:p>
        </p:txBody>
      </p:sp>
      <p:pic>
        <p:nvPicPr>
          <p:cNvPr id="3" name="Picture 2" descr="08_volatility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27" y="1463040"/>
            <a:ext cx="14324265" cy="5852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1480" y="7452360"/>
            <a:ext cx="15453359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452360"/>
            <a:ext cx="15270480" cy="1371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2A6F8A"/>
                </a:solidFill>
              </a:rPr>
              <a:t>In plain English: </a:t>
            </a:r>
            <a:r>
              <a:rPr sz="1900" b="0">
                <a:solidFill>
                  <a:srgbClr val="000000"/>
                </a:solidFill>
              </a:rPr>
              <a:t>like a weather forecast with a range: the line is expected turbulence, the shaded band its likely range. It catches the COVID-19 crash and the 2022 sell-off, which it never saw while learning.</a:t>
            </a:r>
          </a:p>
          <a:p>
            <a:pPr algn="ctr"/>
            <a:r>
              <a:rPr sz="1900" b="0">
                <a:solidFill>
                  <a:srgbClr val="000000"/>
                </a:solidFill>
              </a:rPr>
              <a:t>Average 90% band width (test): MCMC 3.5 · Full-cov VI 3.5 · BBVI 3.1 vol-points (diagonal VI is over-confident).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</a:rPr>
              <a:t>VI forecasts as well as QML and MCMC, but it is not faster for a 3-parameter GARCH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498079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Out-of-sample accuracy: % difference vs QML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4028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NLL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MAD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QLIK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MCMC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+0.15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+0.23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−0.60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+0.26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BBVI (diagonal)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+0.19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+0.18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−0.82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+0.32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Full-cov VI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+0.16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+0.13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−0.94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+0.27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74920"/>
            <a:ext cx="731520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NLL, RMSE, MAD, QLIK are forecast-error scores (lower = better). Every gap is under 1% (paper: sub-1% on average); negative = better than QML.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183879" y="1600200"/>
            <a:ext cx="0" cy="44348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03920" y="1554480"/>
            <a:ext cx="731520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Computational cost (MSFT, one run)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03920" y="224028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Run time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Likelihood evals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QML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&lt; 0.01 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≈ 380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MCMC (RWM)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≈ 0.3 s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30,000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BBVI (diagonal)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≈ 1 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125,000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</a:rPr>
                        <a:t>Full-cov VI (PyTorch)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≈ 16 s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15,000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6309360"/>
            <a:ext cx="15453359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15270480" cy="23774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D08F27"/>
                </a:solidFill>
              </a:rPr>
              <a:t>In plain English: </a:t>
            </a:r>
            <a:r>
              <a:rPr sz="2000" b="0">
                <a:solidFill>
                  <a:srgbClr val="000000"/>
                </a:solidFill>
              </a:rPr>
              <a:t>all methods forecast equally well. For this small 3-dial model, the trusted method (MCMC) is actually quicker, so VI is not a speed win here.</a:t>
            </a:r>
          </a:p>
          <a:p>
            <a:pPr algn="ctr"/>
            <a:endParaRPr sz="2000" b="0">
              <a:solidFill>
                <a:srgbClr val="000000"/>
              </a:solidFill>
            </a:endParaRPr>
          </a:p>
          <a:p>
            <a:pPr algn="ctr"/>
            <a:r>
              <a:rPr sz="2000" b="1">
                <a:solidFill>
                  <a:srgbClr val="2A6F8A"/>
                </a:solidFill>
              </a:rPr>
              <a:t>VI’s real advantages: </a:t>
            </a:r>
            <a:r>
              <a:rPr sz="2000" b="0">
                <a:solidFill>
                  <a:srgbClr val="000000"/>
                </a:solidFill>
              </a:rPr>
              <a:t>one ELBO curve to monitor, the same hyperparameters for every stock, a reusable analytical posterior, and scalability to high-dimensional models where MCMC mixes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</a:rPr>
              <a:t>Extension: Student-t innovations capture the fat tails that Gaussian GARCH misses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600200"/>
            <a:ext cx="6035040" cy="4754880"/>
          </a:xfrm>
          <a:prstGeom prst="rect">
            <a:avLst/>
          </a:prstGeom>
          <a:solidFill>
            <a:srgbClr val="FFFFFF"/>
          </a:solidFill>
          <a:ln w="28575">
            <a:solidFill>
              <a:srgbClr val="D08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760720" cy="4572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1">
                <a:solidFill>
                  <a:srgbClr val="D08F27"/>
                </a:solidFill>
              </a:rPr>
              <a:t>Heavy Tails (Student-t Innovations)</a:t>
            </a:r>
          </a:p>
          <a:p>
            <a:pPr algn="l"/>
            <a:endParaRPr sz="2000" b="1">
              <a:solidFill>
                <a:srgbClr val="D08F27"/>
              </a:solidFill>
            </a:endParaRPr>
          </a:p>
          <a:p>
            <a:pPr algn="l"/>
            <a:r>
              <a:rPr sz="2000" b="1">
                <a:solidFill>
                  <a:srgbClr val="000000"/>
                </a:solidFill>
              </a:rPr>
              <a:t>• The problem: </a:t>
            </a:r>
            <a:r>
              <a:rPr sz="2000" b="0">
                <a:solidFill>
                  <a:srgbClr val="000000"/>
                </a:solidFill>
              </a:rPr>
              <a:t>Gaussian-GARCH residuals are still fat-tailed (left Q-Q).</a:t>
            </a:r>
          </a:p>
          <a:p>
            <a:pPr algn="l"/>
            <a:r>
              <a:rPr sz="2000" b="1">
                <a:solidFill>
                  <a:srgbClr val="000000"/>
                </a:solidFill>
              </a:rPr>
              <a:t>• The extension: </a:t>
            </a:r>
            <a:r>
              <a:rPr sz="2000" b="0">
                <a:solidFill>
                  <a:srgbClr val="000000"/>
                </a:solidFill>
              </a:rPr>
              <a:t>ν = 2 + exp(θν), estimated jointly with full-covariance VI (4 parameters).</a:t>
            </a:r>
          </a:p>
          <a:p>
            <a:pPr algn="l"/>
            <a:r>
              <a:rPr sz="2000" b="1">
                <a:solidFill>
                  <a:srgbClr val="000000"/>
                </a:solidFill>
              </a:rPr>
              <a:t>• The result: </a:t>
            </a:r>
            <a:r>
              <a:rPr sz="2000" b="0">
                <a:solidFill>
                  <a:srgbClr val="000000"/>
                </a:solidFill>
              </a:rPr>
              <a:t>ν ≈ 7.4 (90% interval 5.2–10.2), far from Normal.</a:t>
            </a:r>
          </a:p>
          <a:p>
            <a:pPr algn="l"/>
            <a:endParaRPr sz="2000" b="0">
              <a:solidFill>
                <a:srgbClr val="000000"/>
              </a:solidFill>
            </a:endParaRPr>
          </a:p>
          <a:p>
            <a:pPr algn="l"/>
            <a:r>
              <a:rPr sz="2000" b="1">
                <a:solidFill>
                  <a:srgbClr val="2A6F8A"/>
                </a:solidFill>
              </a:rPr>
              <a:t>In plain English: </a:t>
            </a:r>
            <a:r>
              <a:rPr sz="2000" b="0">
                <a:solidFill>
                  <a:srgbClr val="000000"/>
                </a:solidFill>
              </a:rPr>
              <a:t>this version expects the occasional crash day, so real markets surprise it less.</a:t>
            </a:r>
          </a:p>
        </p:txBody>
      </p:sp>
      <p:pic>
        <p:nvPicPr>
          <p:cNvPr id="5" name="Picture 4" descr="10_qq_gauss_vs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28151"/>
            <a:ext cx="9235440" cy="32989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6537960"/>
            <a:ext cx="4937760" cy="566928"/>
          </a:xfrm>
          <a:prstGeom prst="rect">
            <a:avLst/>
          </a:prstGeom>
          <a:solidFill>
            <a:srgbClr val="06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Criterion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6537960"/>
            <a:ext cx="5120640" cy="566928"/>
          </a:xfrm>
          <a:prstGeom prst="rect">
            <a:avLst/>
          </a:prstGeom>
          <a:solidFill>
            <a:srgbClr val="2A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Gaussian VI-GARCH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6537960"/>
            <a:ext cx="5120640" cy="566928"/>
          </a:xfrm>
          <a:prstGeom prst="rect">
            <a:avLst/>
          </a:prstGeom>
          <a:solidFill>
            <a:srgbClr val="D08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Student-t VI-GARCH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71780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7178040"/>
            <a:ext cx="493776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Fit score, ELBO (higher = better)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71780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7178040"/>
            <a:ext cx="512064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−1945.3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44200" y="71780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44200" y="7178040"/>
            <a:ext cx="512064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−1934.6  (+10.7)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7708392"/>
            <a:ext cx="493776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7708392"/>
            <a:ext cx="493776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Forecast score on unseen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7708392"/>
            <a:ext cx="51206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0" y="7708392"/>
            <a:ext cx="512064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−765.9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44200" y="7708392"/>
            <a:ext cx="51206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44200" y="7708392"/>
            <a:ext cx="512064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−754.1  (+11.8)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8238744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8238744"/>
            <a:ext cx="493776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Volatility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8238744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8238744"/>
            <a:ext cx="512064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almost identical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44200" y="8238744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44200" y="8238744"/>
            <a:ext cx="512064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almost identical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Scaling up: the same conclusion holds across 28 Dow Jones stocks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6258032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1463040"/>
            <a:ext cx="1607515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Data: </a:t>
            </a:r>
            <a:r>
              <a:rPr sz="2000" b="0">
                <a:solidFill>
                  <a:srgbClr val="000000"/>
                </a:solidFill>
              </a:rPr>
              <a:t>28 Dow 30 stocks (DOW, WBA dropped: incomplete)  |  2018–2023  |  </a:t>
            </a:r>
            <a:r>
              <a:rPr sz="2000" b="1">
                <a:solidFill>
                  <a:srgbClr val="000000"/>
                </a:solidFill>
              </a:rPr>
              <a:t>Split: </a:t>
            </a:r>
            <a:r>
              <a:rPr sz="2000" b="0">
                <a:solidFill>
                  <a:srgbClr val="000000"/>
                </a:solidFill>
              </a:rPr>
              <a:t>75% / 25%  |  identical hyperparameters for every stock</a:t>
            </a:r>
          </a:p>
        </p:txBody>
      </p:sp>
      <p:pic>
        <p:nvPicPr>
          <p:cNvPr id="5" name="Picture 4" descr="12_panel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92956"/>
            <a:ext cx="9692640" cy="39008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241280" y="2377440"/>
            <a:ext cx="5623560" cy="3931920"/>
          </a:xfrm>
          <a:prstGeom prst="rect">
            <a:avLst/>
          </a:prstGeom>
          <a:solidFill>
            <a:srgbClr val="FFFFFF"/>
          </a:solidFill>
          <a:ln w="28575">
            <a:solidFill>
              <a:srgbClr val="2A6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0" y="2468880"/>
            <a:ext cx="5440680" cy="37490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900" b="1">
                <a:solidFill>
                  <a:srgbClr val="2A6F8A"/>
                </a:solidFill>
              </a:rPr>
              <a:t>Mean % deviation vs QML</a:t>
            </a:r>
          </a:p>
          <a:p>
            <a:pPr algn="l"/>
            <a:endParaRPr sz="1900" b="1">
              <a:solidFill>
                <a:srgbClr val="2A6F8A"/>
              </a:solidFill>
            </a:endParaRPr>
          </a:p>
          <a:p>
            <a:pPr algn="l"/>
            <a:r>
              <a:rPr sz="1900" b="1">
                <a:solidFill>
                  <a:srgbClr val="000000"/>
                </a:solidFill>
              </a:rPr>
              <a:t>Test NLL:  </a:t>
            </a:r>
            <a:r>
              <a:rPr sz="1900" b="0">
                <a:solidFill>
                  <a:srgbClr val="000000"/>
                </a:solidFill>
              </a:rPr>
              <a:t>MCMC +0.12 · BBVI +0.14</a:t>
            </a:r>
          </a:p>
          <a:p>
            <a:pPr algn="l"/>
            <a:r>
              <a:rPr sz="1900" b="1">
                <a:solidFill>
                  <a:srgbClr val="000000"/>
                </a:solidFill>
              </a:rPr>
              <a:t>Test QLIK: </a:t>
            </a:r>
            <a:r>
              <a:rPr sz="1900" b="0">
                <a:solidFill>
                  <a:srgbClr val="000000"/>
                </a:solidFill>
              </a:rPr>
              <a:t>MCMC +0.25 · BBVI +0.28</a:t>
            </a:r>
          </a:p>
          <a:p>
            <a:pPr algn="l"/>
            <a:r>
              <a:rPr sz="1900" b="1">
                <a:solidFill>
                  <a:srgbClr val="000000"/>
                </a:solidFill>
              </a:rPr>
              <a:t>Train NLL: </a:t>
            </a:r>
            <a:r>
              <a:rPr sz="1900" b="0">
                <a:solidFill>
                  <a:srgbClr val="000000"/>
                </a:solidFill>
              </a:rPr>
              <a:t>QML lowest for 100% of stocks (it maximises it by design)</a:t>
            </a:r>
          </a:p>
          <a:p>
            <a:pPr algn="l"/>
            <a:endParaRPr sz="1900" b="0">
              <a:solidFill>
                <a:srgbClr val="000000"/>
              </a:solidFill>
            </a:endParaRPr>
          </a:p>
          <a:p>
            <a:pPr algn="l"/>
            <a:r>
              <a:rPr sz="1900" b="0">
                <a:solidFill>
                  <a:srgbClr val="000000"/>
                </a:solidFill>
              </a:rPr>
              <a:t>Average time per stock: MCMC ≈ 0.3 s, BBVI ≈ 1.1 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583680"/>
            <a:ext cx="7589520" cy="1737360"/>
          </a:xfrm>
          <a:prstGeom prst="rect">
            <a:avLst/>
          </a:prstGeom>
          <a:solidFill>
            <a:srgbClr val="FFFFFF"/>
          </a:solidFill>
          <a:ln w="28575">
            <a:solidFill>
              <a:srgbClr val="2A6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29400"/>
            <a:ext cx="7406640" cy="1645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100" b="1">
                <a:solidFill>
                  <a:srgbClr val="2A6F8A"/>
                </a:solidFill>
              </a:rPr>
              <a:t>This project (28 stocks)</a:t>
            </a:r>
          </a:p>
          <a:p>
            <a:pPr algn="l"/>
            <a:r>
              <a:rPr sz="2100" b="0">
                <a:solidFill>
                  <a:srgbClr val="000000"/>
                </a:solidFill>
              </a:rPr>
              <a:t>MCMC and BBVI forecasts sit within ≈ 0.3% of QML on average and are almost indistinguishable from each other.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6583680"/>
            <a:ext cx="7589520" cy="1737360"/>
          </a:xfrm>
          <a:prstGeom prst="rect">
            <a:avLst/>
          </a:prstGeom>
          <a:solidFill>
            <a:srgbClr val="FFFFFF"/>
          </a:solidFill>
          <a:ln w="28575">
            <a:solidFill>
              <a:srgbClr val="D08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6629400"/>
            <a:ext cx="7406640" cy="1645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100" b="1">
                <a:solidFill>
                  <a:srgbClr val="D08F27"/>
                </a:solidFill>
              </a:rPr>
              <a:t>Magris &amp; Iosifidis (488 stocks)</a:t>
            </a:r>
          </a:p>
          <a:p>
            <a:pPr algn="l"/>
            <a:r>
              <a:rPr sz="2100" b="0">
                <a:solidFill>
                  <a:srgbClr val="000000"/>
                </a:solidFill>
              </a:rPr>
              <a:t>Across seven GARCH-family models and four VI optimisers, deviations from QML are sub-1% on average (paper, Table I).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5400" b="1">
                <a:solidFill>
                  <a:srgbClr val="000000"/>
                </a:solidFill>
              </a:rPr>
              <a:t>Execution Summary &amp; Core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600200"/>
            <a:ext cx="4983480" cy="4297680"/>
          </a:xfrm>
          <a:prstGeom prst="rect">
            <a:avLst/>
          </a:prstGeom>
          <a:solidFill>
            <a:srgbClr val="FFFFFF"/>
          </a:solidFill>
          <a:ln w="28575">
            <a:solidFill>
              <a:srgbClr val="06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8" y="1691640"/>
            <a:ext cx="4754880" cy="4114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</a:rPr>
              <a:t>Replication</a:t>
            </a:r>
          </a:p>
          <a:p>
            <a:pPr algn="l"/>
            <a:endParaRPr sz="2300" b="1">
              <a:solidFill>
                <a:srgbClr val="000000"/>
              </a:solidFill>
            </a:endParaRPr>
          </a:p>
          <a:p>
            <a:pPr algn="l"/>
            <a:r>
              <a:rPr sz="2300" b="1">
                <a:solidFill>
                  <a:srgbClr val="000000"/>
                </a:solidFill>
              </a:rPr>
              <a:t>• Goal</a:t>
            </a:r>
            <a:r>
              <a:rPr sz="2300" b="0">
                <a:solidFill>
                  <a:srgbClr val="000000"/>
                </a:solidFill>
              </a:rPr>
              <a:t>: Implement VI for GARCH as in Magris &amp; Iosifidis (2023).</a:t>
            </a:r>
          </a:p>
          <a:p>
            <a:pPr algn="l"/>
            <a:r>
              <a:rPr sz="2300" b="1">
                <a:solidFill>
                  <a:srgbClr val="000000"/>
                </a:solidFill>
              </a:rPr>
              <a:t>• Result</a:t>
            </a:r>
            <a:r>
              <a:rPr sz="2300" b="0">
                <a:solidFill>
                  <a:srgbClr val="000000"/>
                </a:solidFill>
              </a:rPr>
              <a:t>: QML, MCMC and BBVI match the paper’s Table II within ≈ 0.02; the transforms guarantee α + β &lt;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600200"/>
            <a:ext cx="4983480" cy="4297680"/>
          </a:xfrm>
          <a:prstGeom prst="rect">
            <a:avLst/>
          </a:prstGeom>
          <a:solidFill>
            <a:srgbClr val="FFFFFF"/>
          </a:solidFill>
          <a:ln w="2857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79008" y="1691640"/>
            <a:ext cx="4754880" cy="4114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</a:rPr>
              <a:t>Accuracy &amp; Uncertainty</a:t>
            </a:r>
          </a:p>
          <a:p>
            <a:pPr algn="l"/>
            <a:endParaRPr sz="2300" b="1">
              <a:solidFill>
                <a:srgbClr val="000000"/>
              </a:solidFill>
            </a:endParaRPr>
          </a:p>
          <a:p>
            <a:pPr algn="l"/>
            <a:r>
              <a:rPr sz="2300" b="1">
                <a:solidFill>
                  <a:srgbClr val="000000"/>
                </a:solidFill>
              </a:rPr>
              <a:t>• Goal</a:t>
            </a:r>
            <a:r>
              <a:rPr sz="2300" b="0">
                <a:solidFill>
                  <a:srgbClr val="000000"/>
                </a:solidFill>
              </a:rPr>
              <a:t>: Match MCMC/QML accuracy.</a:t>
            </a:r>
          </a:p>
          <a:p>
            <a:pPr algn="l"/>
            <a:r>
              <a:rPr sz="2300" b="1">
                <a:solidFill>
                  <a:srgbClr val="000000"/>
                </a:solidFill>
              </a:rPr>
              <a:t>• Result</a:t>
            </a:r>
            <a:r>
              <a:rPr sz="2300" b="0">
                <a:solidFill>
                  <a:srgbClr val="000000"/>
                </a:solidFill>
              </a:rPr>
              <a:t>: VI is within 1% of QML out of sample (MSFT and 28 stocks). Full-cov VI ≈ MCMC posterior; diagonal BBVI is over-confident.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27080" y="1600200"/>
            <a:ext cx="4983480" cy="4297680"/>
          </a:xfrm>
          <a:prstGeom prst="rect">
            <a:avLst/>
          </a:prstGeom>
          <a:solidFill>
            <a:srgbClr val="FFFFFF"/>
          </a:solidFill>
          <a:ln w="28575">
            <a:solidFill>
              <a:srgbClr val="D08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7" y="1691640"/>
            <a:ext cx="4754880" cy="4114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</a:rPr>
              <a:t>Fat Tails &amp; Cost</a:t>
            </a:r>
          </a:p>
          <a:p>
            <a:pPr algn="l"/>
            <a:endParaRPr sz="2300" b="1">
              <a:solidFill>
                <a:srgbClr val="000000"/>
              </a:solidFill>
            </a:endParaRPr>
          </a:p>
          <a:p>
            <a:pPr algn="l"/>
            <a:r>
              <a:rPr sz="2300" b="1">
                <a:solidFill>
                  <a:srgbClr val="000000"/>
                </a:solidFill>
              </a:rPr>
              <a:t>• Goal</a:t>
            </a:r>
            <a:r>
              <a:rPr sz="2300" b="0">
                <a:solidFill>
                  <a:srgbClr val="000000"/>
                </a:solidFill>
              </a:rPr>
              <a:t>: Model real-world returns efficiently.</a:t>
            </a:r>
          </a:p>
          <a:p>
            <a:pPr algn="l"/>
            <a:r>
              <a:rPr sz="2300" b="1">
                <a:solidFill>
                  <a:srgbClr val="000000"/>
                </a:solidFill>
              </a:rPr>
              <a:t>• Result</a:t>
            </a:r>
            <a:r>
              <a:rPr sz="2300" b="0">
                <a:solidFill>
                  <a:srgbClr val="000000"/>
                </a:solidFill>
              </a:rPr>
              <a:t>: Student-t (ν ≈ 7) wins on ELBO and test log-likelihood. At 3 parameters MCMC is cheap; VI pays off through generic tuning and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172200"/>
            <a:ext cx="15453359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</a:rPr>
              <a:t>Variational Inference is an accurate, well-calibrated alternative to MCMC for GARCH,</a:t>
            </a:r>
          </a:p>
          <a:p>
            <a:pPr algn="ctr"/>
            <a:r>
              <a:rPr sz="3000" b="0">
                <a:solidFill>
                  <a:srgbClr val="000000"/>
                </a:solidFill>
              </a:rPr>
              <a:t>as long as the variational family is rich enough (full covariance).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7589520"/>
            <a:ext cx="15453359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000" b="1">
                <a:solidFill>
                  <a:srgbClr val="2A6F8A"/>
                </a:solidFill>
              </a:rPr>
              <a:t>Next steps: </a:t>
            </a:r>
            <a:r>
              <a:rPr sz="2000" b="0">
                <a:solidFill>
                  <a:srgbClr val="2A6F8A"/>
                </a:solidFill>
              </a:rPr>
              <a:t>GJR / EGARCH / FIGARCH · natural-gradient optimisers (QBVI, MGVB) · realised-volatility proxies from intraday data (e.g. WRDS TAQ)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Jargon buster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4996160" cy="722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</a:rPr>
                        <a:t>What it means</a:t>
                      </a:r>
                    </a:p>
                  </a:txBody>
                  <a:tcPr marL="73152" marR="73152" anchor="ctr">
                    <a:solidFill>
                      <a:srgbClr val="2A6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Volatility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How big the daily price swings are (shown annualised, in %)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GARCH(1,1)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Forecasts tomorrow’s volatility from today’s shock (α) and today’s volatility (β), plus a baseline (ω)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Stationary (α + β &lt; 1)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Shocks eventually fade, so volatility cannot explode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QML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Classic method that finds the single best-fitting setting of the dials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Prior / Posterior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What we believe about the dials before / after seeing the data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MCMC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Traditional Bayesian method: a long random walk through plausible settings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Variational Inference (VI)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dirty="0">
                          <a:solidFill>
                            <a:srgbClr val="000000"/>
                          </a:solidFill>
                        </a:rPr>
                        <a:t>Machine-learning shortcut: fit the closest simple bell curve to the posterior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ELBO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The fit score VI maximises (higher = better); also used to compare models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BBVI vs full-covariance VI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Diagonal VI assumes the dials are unrelated; full VI captures how they move together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Train / test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Data the model learns from / unseen “exam” data used to check forecasts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567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NLL, QLIK, RMSE, MAD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000000"/>
                          </a:solidFill>
                        </a:rPr>
                        <a:t>Forecast-error scores: lower is better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5684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0000"/>
                          </a:solidFill>
                        </a:rPr>
                        <a:t>Student-t / fat tails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dirty="0">
                          <a:solidFill>
                            <a:srgbClr val="000000"/>
                          </a:solidFill>
                        </a:rPr>
                        <a:t>Allows extreme days to be more common than a bell curve predicts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"/>
            <a:ext cx="14996159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4996159" cy="7132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</a:rPr>
              <a:t>Magris, M., &amp; Iosifidis, A. (2023). Variational Inference for GARCH-family Models. arXiv:2310.03435.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Blei, D. M., Kucukelbir, A., &amp; McAuliffe, J. D. (2017). Variational Inference: A Review for Statisticians. JASA, 112(518), 859–877.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Bollerslev, T. (1986). Generalized Autoregressive Conditional Heteroskedasticity. Journal of Econometrics, 31(3), 307–327.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Bollerslev, T. (1987). A Conditionally Heteroskedastic Time Series Model for Speculative Prices and Rates of Return. REStat, 69(3), 542–547.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Ranganath, R., Gerrish, S., &amp; Blei, D. (2014). Black Box Variational Inference. AISTATS.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Kingma, D. P., &amp; Welling, M. (2014). Auto-Encoding Variational Bayes. ICLR.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Roberts, G. O., Gelman, A., &amp; Gilks, W. R. (1997). Optimal Scaling of Random Walk Metropolis Algorithms. Annals of Applied Probability, 7(1).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Patton, A. J. (2011). Volatility Forecast Comparison Using Imperfect Volatility Proxies. Journal of Econometrics, 160(1), 246–256.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Code &amp; data: github.com/SGhuman123/Fordham-Time-Series-Econometrics (VI_GARCH.ipynb)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3486</Words>
  <Application>Microsoft Macintosh PowerPoint</Application>
  <PresentationFormat>Custom</PresentationFormat>
  <Paragraphs>366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Cambria Math</vt:lpstr>
      <vt:lpstr>Monaco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James Huang</cp:lastModifiedBy>
  <cp:revision>32</cp:revision>
  <dcterms:created xsi:type="dcterms:W3CDTF">2006-08-16T00:00:00Z</dcterms:created>
  <dcterms:modified xsi:type="dcterms:W3CDTF">2026-10-23T17:27:58Z</dcterms:modified>
</cp:coreProperties>
</file>